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61" r:id="rId2"/>
    <p:sldId id="269" r:id="rId3"/>
    <p:sldId id="262" r:id="rId4"/>
    <p:sldId id="263" r:id="rId5"/>
    <p:sldId id="270" r:id="rId6"/>
    <p:sldId id="271" r:id="rId7"/>
    <p:sldId id="272" r:id="rId8"/>
    <p:sldId id="273" r:id="rId9"/>
    <p:sldId id="275" r:id="rId10"/>
    <p:sldId id="276" r:id="rId11"/>
  </p:sldIdLst>
  <p:sldSz cx="12192000" cy="6858000"/>
  <p:notesSz cx="6858000" cy="9144000"/>
  <p:embeddedFontLst>
    <p:embeddedFont>
      <p:font typeface="Gabriola" panose="04040605051002020D02" pitchFamily="82" charset="0"/>
      <p:regular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jOmBtk5DbvnkierGKxpb4ZbKw0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69A6"/>
    <a:srgbClr val="2AAF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31673A-0B72-4A99-A5D4-0FFB68172EB7}" type="doc">
      <dgm:prSet loTypeId="urn:microsoft.com/office/officeart/2008/layout/IncreasingCircleProcess" loCatId="process" qsTypeId="urn:microsoft.com/office/officeart/2005/8/quickstyle/simple1" qsCatId="simple" csTypeId="urn:microsoft.com/office/officeart/2005/8/colors/colorful5" csCatId="colorful" phldr="1"/>
      <dgm:spPr/>
      <dgm:t>
        <a:bodyPr/>
        <a:lstStyle/>
        <a:p>
          <a:endParaRPr lang="en-US"/>
        </a:p>
      </dgm:t>
    </dgm:pt>
    <dgm:pt modelId="{3479C586-6E97-4C0D-9485-F491B7FE2624}">
      <dgm:prSet phldrT="[Text]" custT="1"/>
      <dgm:spPr/>
      <dgm:t>
        <a:bodyPr/>
        <a:lstStyle/>
        <a:p>
          <a:r>
            <a:rPr lang="en-US" sz="1400" b="0" i="0" u="none" strike="noStrike" cap="none" dirty="0">
              <a:solidFill>
                <a:schemeClr val="tx1"/>
              </a:solidFill>
              <a:latin typeface="+mn-lt"/>
              <a:ea typeface="Calibri"/>
              <a:cs typeface="Calibri"/>
              <a:sym typeface="Calibri"/>
            </a:rPr>
            <a:t>Project Kickoff &amp; Data Understanding</a:t>
          </a:r>
        </a:p>
      </dgm:t>
    </dgm:pt>
    <dgm:pt modelId="{63022669-A9E3-4BC8-B120-8B387380E5EC}" type="parTrans" cxnId="{62C3C2F7-72F5-457C-B313-F1C2A7D92EBE}">
      <dgm:prSet/>
      <dgm:spPr/>
      <dgm:t>
        <a:bodyPr/>
        <a:lstStyle/>
        <a:p>
          <a:endParaRPr lang="en-US"/>
        </a:p>
      </dgm:t>
    </dgm:pt>
    <dgm:pt modelId="{89CF9C7A-86CE-44D0-95BF-90F999361956}" type="sibTrans" cxnId="{62C3C2F7-72F5-457C-B313-F1C2A7D92EBE}">
      <dgm:prSet/>
      <dgm:spPr/>
      <dgm:t>
        <a:bodyPr/>
        <a:lstStyle/>
        <a:p>
          <a:endParaRPr lang="en-US"/>
        </a:p>
      </dgm:t>
    </dgm:pt>
    <dgm:pt modelId="{3428232C-5A26-4E38-8369-52E49965242C}">
      <dgm:prSet phldrT="[Text]" custT="1"/>
      <dgm:spPr/>
      <dgm:t>
        <a:bodyPr/>
        <a:lstStyle/>
        <a:p>
          <a:pPr marL="0" lvl="0" indent="0" algn="l" defTabSz="711200">
            <a:lnSpc>
              <a:spcPct val="90000"/>
            </a:lnSpc>
            <a:spcBef>
              <a:spcPct val="0"/>
            </a:spcBef>
            <a:spcAft>
              <a:spcPct val="35000"/>
            </a:spcAft>
            <a:buNone/>
          </a:pPr>
          <a:r>
            <a:rPr lang="en-US" sz="1600" b="1" i="0" u="none" strike="noStrike" kern="1200" cap="none" dirty="0">
              <a:solidFill>
                <a:srgbClr val="1869A6"/>
              </a:solidFill>
              <a:latin typeface="Arial" panose="020B0604020202020204" pitchFamily="34" charset="0"/>
              <a:ea typeface="Calibri"/>
              <a:cs typeface="Calibri"/>
            </a:rPr>
            <a:t>Nov 08</a:t>
          </a:r>
        </a:p>
      </dgm:t>
    </dgm:pt>
    <dgm:pt modelId="{DA5D62A2-B2C9-4647-ADD1-87701F7490F4}" type="parTrans" cxnId="{B5BFDE1B-B0CE-4BC6-815A-5584E65535C0}">
      <dgm:prSet/>
      <dgm:spPr/>
      <dgm:t>
        <a:bodyPr/>
        <a:lstStyle/>
        <a:p>
          <a:endParaRPr lang="en-US"/>
        </a:p>
      </dgm:t>
    </dgm:pt>
    <dgm:pt modelId="{EEE11FC3-5764-47B4-8EEC-51CFE28AAE68}" type="sibTrans" cxnId="{B5BFDE1B-B0CE-4BC6-815A-5584E65535C0}">
      <dgm:prSet/>
      <dgm:spPr/>
      <dgm:t>
        <a:bodyPr/>
        <a:lstStyle/>
        <a:p>
          <a:endParaRPr lang="en-US"/>
        </a:p>
      </dgm:t>
    </dgm:pt>
    <dgm:pt modelId="{EFEFA02B-8EA0-4888-BD32-BAC5AEC7E70B}">
      <dgm:prSet phldrT="[Text]" custT="1"/>
      <dgm:spPr/>
      <dgm:t>
        <a:bodyPr/>
        <a:lstStyle/>
        <a:p>
          <a:pPr marL="0" lvl="0" indent="0" algn="l" defTabSz="622300">
            <a:lnSpc>
              <a:spcPct val="90000"/>
            </a:lnSpc>
            <a:spcBef>
              <a:spcPct val="0"/>
            </a:spcBef>
            <a:spcAft>
              <a:spcPct val="35000"/>
            </a:spcAft>
            <a:buNone/>
          </a:pPr>
          <a:r>
            <a:rPr lang="en-US" sz="1400" b="0" i="0" u="none" strike="noStrike" kern="1200" cap="none" dirty="0">
              <a:solidFill>
                <a:srgbClr val="000000"/>
              </a:solidFill>
              <a:latin typeface="Arial"/>
              <a:ea typeface="Calibri"/>
              <a:cs typeface="Calibri"/>
            </a:rPr>
            <a:t>Data Cleaning Report &amp; Modeling Complete</a:t>
          </a:r>
        </a:p>
      </dgm:t>
    </dgm:pt>
    <dgm:pt modelId="{8CD4F3E9-23A7-4CE7-94B4-E816E2FE5CD3}" type="parTrans" cxnId="{B8C0A42A-CAFC-4B02-A469-BF7F633DF4A3}">
      <dgm:prSet/>
      <dgm:spPr/>
      <dgm:t>
        <a:bodyPr/>
        <a:lstStyle/>
        <a:p>
          <a:endParaRPr lang="en-US"/>
        </a:p>
      </dgm:t>
    </dgm:pt>
    <dgm:pt modelId="{40AA36AE-E1A9-4DA5-B9F2-A74B5A3991F9}" type="sibTrans" cxnId="{B8C0A42A-CAFC-4B02-A469-BF7F633DF4A3}">
      <dgm:prSet/>
      <dgm:spPr/>
      <dgm:t>
        <a:bodyPr/>
        <a:lstStyle/>
        <a:p>
          <a:endParaRPr lang="en-US"/>
        </a:p>
      </dgm:t>
    </dgm:pt>
    <dgm:pt modelId="{CF2118AF-A27B-4788-A8A9-9ABEE80819B7}">
      <dgm:prSet phldrT="[Text]" custT="1"/>
      <dgm:spPr/>
      <dgm:t>
        <a:bodyPr/>
        <a:lstStyle/>
        <a:p>
          <a:r>
            <a:rPr lang="en-US" sz="1600" b="1" i="0" u="none" strike="noStrike" kern="1200" cap="none" dirty="0">
              <a:solidFill>
                <a:srgbClr val="1869A6"/>
              </a:solidFill>
              <a:latin typeface="Arial" panose="020B0604020202020204" pitchFamily="34" charset="0"/>
              <a:ea typeface="Calibri"/>
              <a:cs typeface="Calibri"/>
            </a:rPr>
            <a:t>Nov 15</a:t>
          </a:r>
        </a:p>
      </dgm:t>
    </dgm:pt>
    <dgm:pt modelId="{D827F152-AF8E-442D-9613-86139A17A095}" type="parTrans" cxnId="{3608AAB5-08F7-4E11-9412-F7DE18F01822}">
      <dgm:prSet/>
      <dgm:spPr/>
      <dgm:t>
        <a:bodyPr/>
        <a:lstStyle/>
        <a:p>
          <a:endParaRPr lang="en-US"/>
        </a:p>
      </dgm:t>
    </dgm:pt>
    <dgm:pt modelId="{A131087B-C9F9-4ADE-BC6E-A5830A5FC4DE}" type="sibTrans" cxnId="{3608AAB5-08F7-4E11-9412-F7DE18F01822}">
      <dgm:prSet/>
      <dgm:spPr/>
      <dgm:t>
        <a:bodyPr/>
        <a:lstStyle/>
        <a:p>
          <a:endParaRPr lang="en-US"/>
        </a:p>
      </dgm:t>
    </dgm:pt>
    <dgm:pt modelId="{131E255C-370C-4255-B421-45CFD10ADE44}">
      <dgm:prSet phldrT="[Text]" custT="1"/>
      <dgm:spPr/>
      <dgm:t>
        <a:bodyPr/>
        <a:lstStyle/>
        <a:p>
          <a:pPr marL="0" lvl="0" indent="0" algn="l" defTabSz="622300">
            <a:lnSpc>
              <a:spcPct val="90000"/>
            </a:lnSpc>
            <a:spcBef>
              <a:spcPct val="0"/>
            </a:spcBef>
            <a:spcAft>
              <a:spcPct val="35000"/>
            </a:spcAft>
            <a:buNone/>
          </a:pPr>
          <a:r>
            <a:rPr lang="en-US" sz="1400" b="0" i="0" u="none" strike="noStrike" kern="1200" cap="none" dirty="0">
              <a:solidFill>
                <a:srgbClr val="000000"/>
              </a:solidFill>
              <a:latin typeface="Arial"/>
              <a:ea typeface="Calibri"/>
              <a:cs typeface="Calibri"/>
            </a:rPr>
            <a:t>Dashboard Development &amp;Beta Testing</a:t>
          </a:r>
        </a:p>
      </dgm:t>
    </dgm:pt>
    <dgm:pt modelId="{EC8C9E7A-EE90-40D9-B25A-5FEB1FCEA184}" type="parTrans" cxnId="{DA2896E9-0CFC-47D3-8AD9-A555C272EDB7}">
      <dgm:prSet/>
      <dgm:spPr/>
      <dgm:t>
        <a:bodyPr/>
        <a:lstStyle/>
        <a:p>
          <a:endParaRPr lang="en-US"/>
        </a:p>
      </dgm:t>
    </dgm:pt>
    <dgm:pt modelId="{2615C731-B9DD-4C7F-AEBB-678EC46C36FB}" type="sibTrans" cxnId="{DA2896E9-0CFC-47D3-8AD9-A555C272EDB7}">
      <dgm:prSet/>
      <dgm:spPr/>
      <dgm:t>
        <a:bodyPr/>
        <a:lstStyle/>
        <a:p>
          <a:endParaRPr lang="en-US"/>
        </a:p>
      </dgm:t>
    </dgm:pt>
    <dgm:pt modelId="{D06DA94F-C87F-4B97-9668-0D114FA0C546}">
      <dgm:prSet phldrT="[Text]" custT="1"/>
      <dgm:spPr/>
      <dgm:t>
        <a:bodyPr/>
        <a:lstStyle/>
        <a:p>
          <a:r>
            <a:rPr lang="en-US" sz="1600" b="1" i="0" u="none" strike="noStrike" cap="none" dirty="0">
              <a:solidFill>
                <a:srgbClr val="1869A6"/>
              </a:solidFill>
              <a:latin typeface="Arial" panose="020B0604020202020204" pitchFamily="34" charset="0"/>
              <a:ea typeface="Calibri"/>
              <a:cs typeface="Calibri"/>
              <a:sym typeface="Calibri"/>
            </a:rPr>
            <a:t>OCT 25</a:t>
          </a:r>
        </a:p>
      </dgm:t>
    </dgm:pt>
    <dgm:pt modelId="{7550BAAF-B143-4341-A44B-3D951B92CCEE}" type="parTrans" cxnId="{179173F0-7769-4AD7-820F-B1F261F77ABA}">
      <dgm:prSet/>
      <dgm:spPr/>
      <dgm:t>
        <a:bodyPr/>
        <a:lstStyle/>
        <a:p>
          <a:endParaRPr lang="en-US"/>
        </a:p>
      </dgm:t>
    </dgm:pt>
    <dgm:pt modelId="{7E10B013-89B0-48A7-B018-C0DF80FB002E}" type="sibTrans" cxnId="{179173F0-7769-4AD7-820F-B1F261F77ABA}">
      <dgm:prSet/>
      <dgm:spPr/>
      <dgm:t>
        <a:bodyPr/>
        <a:lstStyle/>
        <a:p>
          <a:endParaRPr lang="en-US"/>
        </a:p>
      </dgm:t>
    </dgm:pt>
    <dgm:pt modelId="{2FDA6847-2225-42F3-83B6-75F686DB90D1}">
      <dgm:prSet phldrT="[Text]" custT="1"/>
      <dgm:spPr/>
      <dgm:t>
        <a:bodyPr/>
        <a:lstStyle/>
        <a:p>
          <a:pPr marL="0" lvl="0" indent="0" algn="l" defTabSz="711200">
            <a:lnSpc>
              <a:spcPct val="90000"/>
            </a:lnSpc>
            <a:spcBef>
              <a:spcPct val="0"/>
            </a:spcBef>
            <a:spcAft>
              <a:spcPct val="35000"/>
            </a:spcAft>
            <a:buNone/>
          </a:pPr>
          <a:r>
            <a:rPr lang="en-US" sz="1600" b="1" i="0" u="none" strike="noStrike" kern="1200" cap="none" dirty="0">
              <a:solidFill>
                <a:srgbClr val="1869A6"/>
              </a:solidFill>
              <a:latin typeface="Arial" panose="020B0604020202020204" pitchFamily="34" charset="0"/>
              <a:ea typeface="Calibri"/>
              <a:cs typeface="Calibri"/>
            </a:rPr>
            <a:t>Nov 29</a:t>
          </a:r>
        </a:p>
      </dgm:t>
    </dgm:pt>
    <dgm:pt modelId="{469EC586-13EA-4477-A227-E8DBB17B0EDE}" type="parTrans" cxnId="{D3A93E79-D1EC-4178-821F-0FB2724FAC9A}">
      <dgm:prSet/>
      <dgm:spPr/>
      <dgm:t>
        <a:bodyPr/>
        <a:lstStyle/>
        <a:p>
          <a:endParaRPr lang="en-US"/>
        </a:p>
      </dgm:t>
    </dgm:pt>
    <dgm:pt modelId="{9F8A3C31-BA00-4979-8B61-ACCC9FCDE4EC}" type="sibTrans" cxnId="{D3A93E79-D1EC-4178-821F-0FB2724FAC9A}">
      <dgm:prSet/>
      <dgm:spPr/>
      <dgm:t>
        <a:bodyPr/>
        <a:lstStyle/>
        <a:p>
          <a:endParaRPr lang="en-US"/>
        </a:p>
      </dgm:t>
    </dgm:pt>
    <dgm:pt modelId="{55D0552B-ED6F-40A6-9DEA-B4BEA1044A43}">
      <dgm:prSet phldrT="[Text]" custT="1"/>
      <dgm:spPr/>
      <dgm:t>
        <a:bodyPr/>
        <a:lstStyle/>
        <a:p>
          <a:pPr marL="0" lvl="0" indent="0" algn="l" defTabSz="622300">
            <a:lnSpc>
              <a:spcPct val="90000"/>
            </a:lnSpc>
            <a:spcBef>
              <a:spcPct val="0"/>
            </a:spcBef>
            <a:spcAft>
              <a:spcPct val="35000"/>
            </a:spcAft>
            <a:buNone/>
          </a:pPr>
          <a:r>
            <a:rPr lang="en-US" sz="1400" b="0" i="0" u="none" strike="noStrike" kern="1200" cap="none" dirty="0">
              <a:solidFill>
                <a:srgbClr val="000000"/>
              </a:solidFill>
              <a:latin typeface="Arial"/>
              <a:ea typeface="Calibri"/>
              <a:cs typeface="Calibri"/>
            </a:rPr>
            <a:t>Final Presentation &amp; Documentation Delivery</a:t>
          </a:r>
        </a:p>
      </dgm:t>
    </dgm:pt>
    <dgm:pt modelId="{4C3A4C3C-6726-49AA-B6B1-3F455EF5E89A}" type="parTrans" cxnId="{03CAFAC2-F975-4E23-AE79-1A2DC75CE4A4}">
      <dgm:prSet/>
      <dgm:spPr/>
      <dgm:t>
        <a:bodyPr/>
        <a:lstStyle/>
        <a:p>
          <a:endParaRPr lang="en-US"/>
        </a:p>
      </dgm:t>
    </dgm:pt>
    <dgm:pt modelId="{208D0248-D20A-44E1-B72E-411418BF0047}" type="sibTrans" cxnId="{03CAFAC2-F975-4E23-AE79-1A2DC75CE4A4}">
      <dgm:prSet/>
      <dgm:spPr/>
      <dgm:t>
        <a:bodyPr/>
        <a:lstStyle/>
        <a:p>
          <a:endParaRPr lang="en-US"/>
        </a:p>
      </dgm:t>
    </dgm:pt>
    <dgm:pt modelId="{22FF6190-7AAA-4680-8F4F-CF5C4E8C58C8}" type="pres">
      <dgm:prSet presAssocID="{E531673A-0B72-4A99-A5D4-0FFB68172EB7}" presName="Name0" presStyleCnt="0">
        <dgm:presLayoutVars>
          <dgm:chMax val="7"/>
          <dgm:chPref val="7"/>
          <dgm:dir/>
          <dgm:animOne val="branch"/>
          <dgm:animLvl val="lvl"/>
        </dgm:presLayoutVars>
      </dgm:prSet>
      <dgm:spPr/>
    </dgm:pt>
    <dgm:pt modelId="{24502DA8-F80E-4205-B35A-83945A3F6CDB}" type="pres">
      <dgm:prSet presAssocID="{D06DA94F-C87F-4B97-9668-0D114FA0C546}" presName="composite" presStyleCnt="0"/>
      <dgm:spPr/>
    </dgm:pt>
    <dgm:pt modelId="{AA4BD7E1-19E4-4891-854D-A9890C19F7AC}" type="pres">
      <dgm:prSet presAssocID="{D06DA94F-C87F-4B97-9668-0D114FA0C546}" presName="BackAccent" presStyleLbl="bgShp" presStyleIdx="0" presStyleCnt="4"/>
      <dgm:spPr/>
    </dgm:pt>
    <dgm:pt modelId="{B74572CF-FBC1-405C-960B-644F674C1D28}" type="pres">
      <dgm:prSet presAssocID="{D06DA94F-C87F-4B97-9668-0D114FA0C546}" presName="Accent" presStyleLbl="alignNode1" presStyleIdx="0" presStyleCnt="4"/>
      <dgm:spPr/>
    </dgm:pt>
    <dgm:pt modelId="{8E48F24C-51F3-49D2-80E2-F5B77B1231C8}" type="pres">
      <dgm:prSet presAssocID="{D06DA94F-C87F-4B97-9668-0D114FA0C546}" presName="Child" presStyleLbl="revTx" presStyleIdx="0" presStyleCnt="8" custScaleX="203080">
        <dgm:presLayoutVars>
          <dgm:chMax val="0"/>
          <dgm:chPref val="0"/>
          <dgm:bulletEnabled val="1"/>
        </dgm:presLayoutVars>
      </dgm:prSet>
      <dgm:spPr/>
    </dgm:pt>
    <dgm:pt modelId="{03CC7203-C97F-42A6-8D9B-D90500BCBE98}" type="pres">
      <dgm:prSet presAssocID="{D06DA94F-C87F-4B97-9668-0D114FA0C546}" presName="Parent" presStyleLbl="revTx" presStyleIdx="1" presStyleCnt="8">
        <dgm:presLayoutVars>
          <dgm:chMax val="1"/>
          <dgm:chPref val="1"/>
          <dgm:bulletEnabled val="1"/>
        </dgm:presLayoutVars>
      </dgm:prSet>
      <dgm:spPr/>
    </dgm:pt>
    <dgm:pt modelId="{75CF1714-06C1-4A16-B3D2-A5F65407D0C3}" type="pres">
      <dgm:prSet presAssocID="{7E10B013-89B0-48A7-B018-C0DF80FB002E}" presName="sibTrans" presStyleCnt="0"/>
      <dgm:spPr/>
    </dgm:pt>
    <dgm:pt modelId="{94CC91B6-77F8-4580-ABE0-1B0855F59427}" type="pres">
      <dgm:prSet presAssocID="{3428232C-5A26-4E38-8369-52E49965242C}" presName="composite" presStyleCnt="0"/>
      <dgm:spPr/>
    </dgm:pt>
    <dgm:pt modelId="{8AD342C6-57D1-4E92-BA9A-A93AE9B14B5D}" type="pres">
      <dgm:prSet presAssocID="{3428232C-5A26-4E38-8369-52E49965242C}" presName="BackAccent" presStyleLbl="bgShp" presStyleIdx="1" presStyleCnt="4"/>
      <dgm:spPr/>
    </dgm:pt>
    <dgm:pt modelId="{D2DE9473-1467-47D5-9F67-611EB68BC729}" type="pres">
      <dgm:prSet presAssocID="{3428232C-5A26-4E38-8369-52E49965242C}" presName="Accent" presStyleLbl="alignNode1" presStyleIdx="1" presStyleCnt="4"/>
      <dgm:spPr/>
    </dgm:pt>
    <dgm:pt modelId="{CDA55AD9-F65C-4510-9406-8228BE33B2C3}" type="pres">
      <dgm:prSet presAssocID="{3428232C-5A26-4E38-8369-52E49965242C}" presName="Child" presStyleLbl="revTx" presStyleIdx="2" presStyleCnt="8" custScaleX="240154">
        <dgm:presLayoutVars>
          <dgm:chMax val="0"/>
          <dgm:chPref val="0"/>
          <dgm:bulletEnabled val="1"/>
        </dgm:presLayoutVars>
      </dgm:prSet>
      <dgm:spPr/>
    </dgm:pt>
    <dgm:pt modelId="{9B4F6DBC-8806-4F73-84BB-688D97398CC2}" type="pres">
      <dgm:prSet presAssocID="{3428232C-5A26-4E38-8369-52E49965242C}" presName="Parent" presStyleLbl="revTx" presStyleIdx="3" presStyleCnt="8">
        <dgm:presLayoutVars>
          <dgm:chMax val="1"/>
          <dgm:chPref val="1"/>
          <dgm:bulletEnabled val="1"/>
        </dgm:presLayoutVars>
      </dgm:prSet>
      <dgm:spPr/>
    </dgm:pt>
    <dgm:pt modelId="{0D7551AF-A4CC-4FDF-A094-042597CC5AA5}" type="pres">
      <dgm:prSet presAssocID="{EEE11FC3-5764-47B4-8EEC-51CFE28AAE68}" presName="sibTrans" presStyleCnt="0"/>
      <dgm:spPr/>
    </dgm:pt>
    <dgm:pt modelId="{61D88C08-DA9F-40B5-8943-D84B03B95CD1}" type="pres">
      <dgm:prSet presAssocID="{CF2118AF-A27B-4788-A8A9-9ABEE80819B7}" presName="composite" presStyleCnt="0"/>
      <dgm:spPr/>
    </dgm:pt>
    <dgm:pt modelId="{93AC516D-F4F8-45DA-9617-ECFCCA85352E}" type="pres">
      <dgm:prSet presAssocID="{CF2118AF-A27B-4788-A8A9-9ABEE80819B7}" presName="BackAccent" presStyleLbl="bgShp" presStyleIdx="2" presStyleCnt="4"/>
      <dgm:spPr/>
    </dgm:pt>
    <dgm:pt modelId="{3AF9290D-6F41-45F3-B2BA-B9FAA191025B}" type="pres">
      <dgm:prSet presAssocID="{CF2118AF-A27B-4788-A8A9-9ABEE80819B7}" presName="Accent" presStyleLbl="alignNode1" presStyleIdx="2" presStyleCnt="4"/>
      <dgm:spPr/>
    </dgm:pt>
    <dgm:pt modelId="{4FFDB1BC-EF31-42C7-AECF-5B36178BAAD1}" type="pres">
      <dgm:prSet presAssocID="{CF2118AF-A27B-4788-A8A9-9ABEE80819B7}" presName="Child" presStyleLbl="revTx" presStyleIdx="4" presStyleCnt="8" custScaleX="140846">
        <dgm:presLayoutVars>
          <dgm:chMax val="0"/>
          <dgm:chPref val="0"/>
          <dgm:bulletEnabled val="1"/>
        </dgm:presLayoutVars>
      </dgm:prSet>
      <dgm:spPr/>
    </dgm:pt>
    <dgm:pt modelId="{DE15B606-1E38-456E-AFA5-4BA7D950CD8B}" type="pres">
      <dgm:prSet presAssocID="{CF2118AF-A27B-4788-A8A9-9ABEE80819B7}" presName="Parent" presStyleLbl="revTx" presStyleIdx="5" presStyleCnt="8">
        <dgm:presLayoutVars>
          <dgm:chMax val="1"/>
          <dgm:chPref val="1"/>
          <dgm:bulletEnabled val="1"/>
        </dgm:presLayoutVars>
      </dgm:prSet>
      <dgm:spPr/>
    </dgm:pt>
    <dgm:pt modelId="{AA59F67C-0722-4D77-96B6-6561E97ED72A}" type="pres">
      <dgm:prSet presAssocID="{A131087B-C9F9-4ADE-BC6E-A5830A5FC4DE}" presName="sibTrans" presStyleCnt="0"/>
      <dgm:spPr/>
    </dgm:pt>
    <dgm:pt modelId="{99036A16-F035-43B9-8F17-4DF02E42F51A}" type="pres">
      <dgm:prSet presAssocID="{2FDA6847-2225-42F3-83B6-75F686DB90D1}" presName="composite" presStyleCnt="0"/>
      <dgm:spPr/>
    </dgm:pt>
    <dgm:pt modelId="{0C6F5E49-B587-4716-8D35-DD775B48CB8D}" type="pres">
      <dgm:prSet presAssocID="{2FDA6847-2225-42F3-83B6-75F686DB90D1}" presName="BackAccent" presStyleLbl="bgShp" presStyleIdx="3" presStyleCnt="4"/>
      <dgm:spPr/>
    </dgm:pt>
    <dgm:pt modelId="{755A1A38-0B37-4865-B501-B7D86BD2E3CC}" type="pres">
      <dgm:prSet presAssocID="{2FDA6847-2225-42F3-83B6-75F686DB90D1}" presName="Accent" presStyleLbl="alignNode1" presStyleIdx="3" presStyleCnt="4"/>
      <dgm:spPr/>
    </dgm:pt>
    <dgm:pt modelId="{A18E8B5F-DC89-4940-BF71-34506D852FD0}" type="pres">
      <dgm:prSet presAssocID="{2FDA6847-2225-42F3-83B6-75F686DB90D1}" presName="Child" presStyleLbl="revTx" presStyleIdx="6" presStyleCnt="8" custScaleX="149123">
        <dgm:presLayoutVars>
          <dgm:chMax val="0"/>
          <dgm:chPref val="0"/>
          <dgm:bulletEnabled val="1"/>
        </dgm:presLayoutVars>
      </dgm:prSet>
      <dgm:spPr/>
    </dgm:pt>
    <dgm:pt modelId="{FE5E6BBF-26AD-4AAD-9B6F-D5BA84C556B3}" type="pres">
      <dgm:prSet presAssocID="{2FDA6847-2225-42F3-83B6-75F686DB90D1}" presName="Parent" presStyleLbl="revTx" presStyleIdx="7" presStyleCnt="8">
        <dgm:presLayoutVars>
          <dgm:chMax val="1"/>
          <dgm:chPref val="1"/>
          <dgm:bulletEnabled val="1"/>
        </dgm:presLayoutVars>
      </dgm:prSet>
      <dgm:spPr/>
    </dgm:pt>
  </dgm:ptLst>
  <dgm:cxnLst>
    <dgm:cxn modelId="{B5BFDE1B-B0CE-4BC6-815A-5584E65535C0}" srcId="{E531673A-0B72-4A99-A5D4-0FFB68172EB7}" destId="{3428232C-5A26-4E38-8369-52E49965242C}" srcOrd="1" destOrd="0" parTransId="{DA5D62A2-B2C9-4647-ADD1-87701F7490F4}" sibTransId="{EEE11FC3-5764-47B4-8EEC-51CFE28AAE68}"/>
    <dgm:cxn modelId="{B8C0A42A-CAFC-4B02-A469-BF7F633DF4A3}" srcId="{3428232C-5A26-4E38-8369-52E49965242C}" destId="{EFEFA02B-8EA0-4888-BD32-BAC5AEC7E70B}" srcOrd="0" destOrd="0" parTransId="{8CD4F3E9-23A7-4CE7-94B4-E816E2FE5CD3}" sibTransId="{40AA36AE-E1A9-4DA5-B9F2-A74B5A3991F9}"/>
    <dgm:cxn modelId="{DFD67537-B853-4847-8188-9B134003A874}" type="presOf" srcId="{E531673A-0B72-4A99-A5D4-0FFB68172EB7}" destId="{22FF6190-7AAA-4680-8F4F-CF5C4E8C58C8}" srcOrd="0" destOrd="0" presId="urn:microsoft.com/office/officeart/2008/layout/IncreasingCircleProcess"/>
    <dgm:cxn modelId="{6611C163-E815-47F6-A4F0-F7396ADF8723}" type="presOf" srcId="{EFEFA02B-8EA0-4888-BD32-BAC5AEC7E70B}" destId="{CDA55AD9-F65C-4510-9406-8228BE33B2C3}" srcOrd="0" destOrd="0" presId="urn:microsoft.com/office/officeart/2008/layout/IncreasingCircleProcess"/>
    <dgm:cxn modelId="{77AE9348-2B72-4D19-B4C8-3592B1E4F50F}" type="presOf" srcId="{131E255C-370C-4255-B421-45CFD10ADE44}" destId="{4FFDB1BC-EF31-42C7-AECF-5B36178BAAD1}" srcOrd="0" destOrd="0" presId="urn:microsoft.com/office/officeart/2008/layout/IncreasingCircleProcess"/>
    <dgm:cxn modelId="{11179568-E455-4C71-B0A4-E645F36ACEE0}" type="presOf" srcId="{CF2118AF-A27B-4788-A8A9-9ABEE80819B7}" destId="{DE15B606-1E38-456E-AFA5-4BA7D950CD8B}" srcOrd="0" destOrd="0" presId="urn:microsoft.com/office/officeart/2008/layout/IncreasingCircleProcess"/>
    <dgm:cxn modelId="{56E16749-727C-4145-8C49-7C9C13798B33}" type="presOf" srcId="{2FDA6847-2225-42F3-83B6-75F686DB90D1}" destId="{FE5E6BBF-26AD-4AAD-9B6F-D5BA84C556B3}" srcOrd="0" destOrd="0" presId="urn:microsoft.com/office/officeart/2008/layout/IncreasingCircleProcess"/>
    <dgm:cxn modelId="{E3AC8D4A-2666-4B48-8BFC-8EAD250BC4B8}" type="presOf" srcId="{55D0552B-ED6F-40A6-9DEA-B4BEA1044A43}" destId="{A18E8B5F-DC89-4940-BF71-34506D852FD0}" srcOrd="0" destOrd="0" presId="urn:microsoft.com/office/officeart/2008/layout/IncreasingCircleProcess"/>
    <dgm:cxn modelId="{F8850250-B51D-4EC9-B20A-B5D9AAB12E12}" type="presOf" srcId="{D06DA94F-C87F-4B97-9668-0D114FA0C546}" destId="{03CC7203-C97F-42A6-8D9B-D90500BCBE98}" srcOrd="0" destOrd="0" presId="urn:microsoft.com/office/officeart/2008/layout/IncreasingCircleProcess"/>
    <dgm:cxn modelId="{FE186856-2769-4A7E-8467-AC8859AE7904}" type="presOf" srcId="{3479C586-6E97-4C0D-9485-F491B7FE2624}" destId="{8E48F24C-51F3-49D2-80E2-F5B77B1231C8}" srcOrd="0" destOrd="0" presId="urn:microsoft.com/office/officeart/2008/layout/IncreasingCircleProcess"/>
    <dgm:cxn modelId="{D3A93E79-D1EC-4178-821F-0FB2724FAC9A}" srcId="{E531673A-0B72-4A99-A5D4-0FFB68172EB7}" destId="{2FDA6847-2225-42F3-83B6-75F686DB90D1}" srcOrd="3" destOrd="0" parTransId="{469EC586-13EA-4477-A227-E8DBB17B0EDE}" sibTransId="{9F8A3C31-BA00-4979-8B61-ACCC9FCDE4EC}"/>
    <dgm:cxn modelId="{20BCC87E-72A1-42E3-BB3D-84FF95AC8FDB}" type="presOf" srcId="{3428232C-5A26-4E38-8369-52E49965242C}" destId="{9B4F6DBC-8806-4F73-84BB-688D97398CC2}" srcOrd="0" destOrd="0" presId="urn:microsoft.com/office/officeart/2008/layout/IncreasingCircleProcess"/>
    <dgm:cxn modelId="{3608AAB5-08F7-4E11-9412-F7DE18F01822}" srcId="{E531673A-0B72-4A99-A5D4-0FFB68172EB7}" destId="{CF2118AF-A27B-4788-A8A9-9ABEE80819B7}" srcOrd="2" destOrd="0" parTransId="{D827F152-AF8E-442D-9613-86139A17A095}" sibTransId="{A131087B-C9F9-4ADE-BC6E-A5830A5FC4DE}"/>
    <dgm:cxn modelId="{03CAFAC2-F975-4E23-AE79-1A2DC75CE4A4}" srcId="{2FDA6847-2225-42F3-83B6-75F686DB90D1}" destId="{55D0552B-ED6F-40A6-9DEA-B4BEA1044A43}" srcOrd="0" destOrd="0" parTransId="{4C3A4C3C-6726-49AA-B6B1-3F455EF5E89A}" sibTransId="{208D0248-D20A-44E1-B72E-411418BF0047}"/>
    <dgm:cxn modelId="{DA2896E9-0CFC-47D3-8AD9-A555C272EDB7}" srcId="{CF2118AF-A27B-4788-A8A9-9ABEE80819B7}" destId="{131E255C-370C-4255-B421-45CFD10ADE44}" srcOrd="0" destOrd="0" parTransId="{EC8C9E7A-EE90-40D9-B25A-5FEB1FCEA184}" sibTransId="{2615C731-B9DD-4C7F-AEBB-678EC46C36FB}"/>
    <dgm:cxn modelId="{179173F0-7769-4AD7-820F-B1F261F77ABA}" srcId="{E531673A-0B72-4A99-A5D4-0FFB68172EB7}" destId="{D06DA94F-C87F-4B97-9668-0D114FA0C546}" srcOrd="0" destOrd="0" parTransId="{7550BAAF-B143-4341-A44B-3D951B92CCEE}" sibTransId="{7E10B013-89B0-48A7-B018-C0DF80FB002E}"/>
    <dgm:cxn modelId="{62C3C2F7-72F5-457C-B313-F1C2A7D92EBE}" srcId="{D06DA94F-C87F-4B97-9668-0D114FA0C546}" destId="{3479C586-6E97-4C0D-9485-F491B7FE2624}" srcOrd="0" destOrd="0" parTransId="{63022669-A9E3-4BC8-B120-8B387380E5EC}" sibTransId="{89CF9C7A-86CE-44D0-95BF-90F999361956}"/>
    <dgm:cxn modelId="{43D3C252-41AA-4A9E-8CDA-4514C2C82899}" type="presParOf" srcId="{22FF6190-7AAA-4680-8F4F-CF5C4E8C58C8}" destId="{24502DA8-F80E-4205-B35A-83945A3F6CDB}" srcOrd="0" destOrd="0" presId="urn:microsoft.com/office/officeart/2008/layout/IncreasingCircleProcess"/>
    <dgm:cxn modelId="{8E1152C5-B143-4233-AAAF-242C6DA4ACB2}" type="presParOf" srcId="{24502DA8-F80E-4205-B35A-83945A3F6CDB}" destId="{AA4BD7E1-19E4-4891-854D-A9890C19F7AC}" srcOrd="0" destOrd="0" presId="urn:microsoft.com/office/officeart/2008/layout/IncreasingCircleProcess"/>
    <dgm:cxn modelId="{72E34C48-E3AB-4A44-B1CD-921998F41C16}" type="presParOf" srcId="{24502DA8-F80E-4205-B35A-83945A3F6CDB}" destId="{B74572CF-FBC1-405C-960B-644F674C1D28}" srcOrd="1" destOrd="0" presId="urn:microsoft.com/office/officeart/2008/layout/IncreasingCircleProcess"/>
    <dgm:cxn modelId="{2A65C990-84EF-4A57-BDE3-11A0E7A97BAE}" type="presParOf" srcId="{24502DA8-F80E-4205-B35A-83945A3F6CDB}" destId="{8E48F24C-51F3-49D2-80E2-F5B77B1231C8}" srcOrd="2" destOrd="0" presId="urn:microsoft.com/office/officeart/2008/layout/IncreasingCircleProcess"/>
    <dgm:cxn modelId="{F78807C9-6261-4375-ACB4-B379C091223C}" type="presParOf" srcId="{24502DA8-F80E-4205-B35A-83945A3F6CDB}" destId="{03CC7203-C97F-42A6-8D9B-D90500BCBE98}" srcOrd="3" destOrd="0" presId="urn:microsoft.com/office/officeart/2008/layout/IncreasingCircleProcess"/>
    <dgm:cxn modelId="{79FC04D8-6918-4DED-87FE-2FA5DDFD3505}" type="presParOf" srcId="{22FF6190-7AAA-4680-8F4F-CF5C4E8C58C8}" destId="{75CF1714-06C1-4A16-B3D2-A5F65407D0C3}" srcOrd="1" destOrd="0" presId="urn:microsoft.com/office/officeart/2008/layout/IncreasingCircleProcess"/>
    <dgm:cxn modelId="{2E99B505-3831-48BD-97B4-F6F43C3442C6}" type="presParOf" srcId="{22FF6190-7AAA-4680-8F4F-CF5C4E8C58C8}" destId="{94CC91B6-77F8-4580-ABE0-1B0855F59427}" srcOrd="2" destOrd="0" presId="urn:microsoft.com/office/officeart/2008/layout/IncreasingCircleProcess"/>
    <dgm:cxn modelId="{4CA0B225-CADB-45C7-A5AF-01828F63A447}" type="presParOf" srcId="{94CC91B6-77F8-4580-ABE0-1B0855F59427}" destId="{8AD342C6-57D1-4E92-BA9A-A93AE9B14B5D}" srcOrd="0" destOrd="0" presId="urn:microsoft.com/office/officeart/2008/layout/IncreasingCircleProcess"/>
    <dgm:cxn modelId="{24589D51-7EEA-44ED-9C79-B20DDC7D79F9}" type="presParOf" srcId="{94CC91B6-77F8-4580-ABE0-1B0855F59427}" destId="{D2DE9473-1467-47D5-9F67-611EB68BC729}" srcOrd="1" destOrd="0" presId="urn:microsoft.com/office/officeart/2008/layout/IncreasingCircleProcess"/>
    <dgm:cxn modelId="{76241A64-94FD-4F1B-BFF2-63A1780DD2EA}" type="presParOf" srcId="{94CC91B6-77F8-4580-ABE0-1B0855F59427}" destId="{CDA55AD9-F65C-4510-9406-8228BE33B2C3}" srcOrd="2" destOrd="0" presId="urn:microsoft.com/office/officeart/2008/layout/IncreasingCircleProcess"/>
    <dgm:cxn modelId="{C6DEB537-2D9C-400E-A007-8E93B8FA56C6}" type="presParOf" srcId="{94CC91B6-77F8-4580-ABE0-1B0855F59427}" destId="{9B4F6DBC-8806-4F73-84BB-688D97398CC2}" srcOrd="3" destOrd="0" presId="urn:microsoft.com/office/officeart/2008/layout/IncreasingCircleProcess"/>
    <dgm:cxn modelId="{EF57670B-D06C-4F23-AB48-0DB7AA2367A8}" type="presParOf" srcId="{22FF6190-7AAA-4680-8F4F-CF5C4E8C58C8}" destId="{0D7551AF-A4CC-4FDF-A094-042597CC5AA5}" srcOrd="3" destOrd="0" presId="urn:microsoft.com/office/officeart/2008/layout/IncreasingCircleProcess"/>
    <dgm:cxn modelId="{2EDE034A-14C7-41AD-8923-80E616F3D088}" type="presParOf" srcId="{22FF6190-7AAA-4680-8F4F-CF5C4E8C58C8}" destId="{61D88C08-DA9F-40B5-8943-D84B03B95CD1}" srcOrd="4" destOrd="0" presId="urn:microsoft.com/office/officeart/2008/layout/IncreasingCircleProcess"/>
    <dgm:cxn modelId="{A0048D18-F789-42B4-BF75-9C4A9E9922DD}" type="presParOf" srcId="{61D88C08-DA9F-40B5-8943-D84B03B95CD1}" destId="{93AC516D-F4F8-45DA-9617-ECFCCA85352E}" srcOrd="0" destOrd="0" presId="urn:microsoft.com/office/officeart/2008/layout/IncreasingCircleProcess"/>
    <dgm:cxn modelId="{567911CE-881B-4468-B2BA-74FC91341964}" type="presParOf" srcId="{61D88C08-DA9F-40B5-8943-D84B03B95CD1}" destId="{3AF9290D-6F41-45F3-B2BA-B9FAA191025B}" srcOrd="1" destOrd="0" presId="urn:microsoft.com/office/officeart/2008/layout/IncreasingCircleProcess"/>
    <dgm:cxn modelId="{C612D560-7346-4FC7-8C30-DE872A20C1A7}" type="presParOf" srcId="{61D88C08-DA9F-40B5-8943-D84B03B95CD1}" destId="{4FFDB1BC-EF31-42C7-AECF-5B36178BAAD1}" srcOrd="2" destOrd="0" presId="urn:microsoft.com/office/officeart/2008/layout/IncreasingCircleProcess"/>
    <dgm:cxn modelId="{AA237891-497F-41F6-9E1B-B73BD56CDDD1}" type="presParOf" srcId="{61D88C08-DA9F-40B5-8943-D84B03B95CD1}" destId="{DE15B606-1E38-456E-AFA5-4BA7D950CD8B}" srcOrd="3" destOrd="0" presId="urn:microsoft.com/office/officeart/2008/layout/IncreasingCircleProcess"/>
    <dgm:cxn modelId="{25920E01-8C0E-43DC-B0AF-A10F838FC861}" type="presParOf" srcId="{22FF6190-7AAA-4680-8F4F-CF5C4E8C58C8}" destId="{AA59F67C-0722-4D77-96B6-6561E97ED72A}" srcOrd="5" destOrd="0" presId="urn:microsoft.com/office/officeart/2008/layout/IncreasingCircleProcess"/>
    <dgm:cxn modelId="{CB5A74DA-D0CF-4AC3-AAB8-E7F1913EE117}" type="presParOf" srcId="{22FF6190-7AAA-4680-8F4F-CF5C4E8C58C8}" destId="{99036A16-F035-43B9-8F17-4DF02E42F51A}" srcOrd="6" destOrd="0" presId="urn:microsoft.com/office/officeart/2008/layout/IncreasingCircleProcess"/>
    <dgm:cxn modelId="{B0888A50-C109-4F7F-9B59-A0E3AB696E3C}" type="presParOf" srcId="{99036A16-F035-43B9-8F17-4DF02E42F51A}" destId="{0C6F5E49-B587-4716-8D35-DD775B48CB8D}" srcOrd="0" destOrd="0" presId="urn:microsoft.com/office/officeart/2008/layout/IncreasingCircleProcess"/>
    <dgm:cxn modelId="{6C2EE8AB-C361-4501-8600-B42CEEB131BE}" type="presParOf" srcId="{99036A16-F035-43B9-8F17-4DF02E42F51A}" destId="{755A1A38-0B37-4865-B501-B7D86BD2E3CC}" srcOrd="1" destOrd="0" presId="urn:microsoft.com/office/officeart/2008/layout/IncreasingCircleProcess"/>
    <dgm:cxn modelId="{55E2A559-A548-444B-BC91-7FEEA42900BE}" type="presParOf" srcId="{99036A16-F035-43B9-8F17-4DF02E42F51A}" destId="{A18E8B5F-DC89-4940-BF71-34506D852FD0}" srcOrd="2" destOrd="0" presId="urn:microsoft.com/office/officeart/2008/layout/IncreasingCircleProcess"/>
    <dgm:cxn modelId="{A0D6A32D-212A-4DFF-991E-526C63D2841F}" type="presParOf" srcId="{99036A16-F035-43B9-8F17-4DF02E42F51A}" destId="{FE5E6BBF-26AD-4AAD-9B6F-D5BA84C556B3}" srcOrd="3" destOrd="0" presId="urn:microsoft.com/office/officeart/2008/layout/Increasing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39D47B1-DE52-4870-91A5-571B924E3DDB}"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en-US"/>
        </a:p>
      </dgm:t>
    </dgm:pt>
    <dgm:pt modelId="{C9B41EBC-C07D-4B2A-B808-54A9CC22A58C}">
      <dgm:prSet custT="1">
        <dgm:style>
          <a:lnRef idx="0">
            <a:scrgbClr r="0" g="0" b="0"/>
          </a:lnRef>
          <a:fillRef idx="0">
            <a:scrgbClr r="0" g="0" b="0"/>
          </a:fillRef>
          <a:effectRef idx="0">
            <a:scrgbClr r="0" g="0" b="0"/>
          </a:effectRef>
          <a:fontRef idx="minor">
            <a:schemeClr val="dk1"/>
          </a:fontRef>
        </dgm:style>
      </dgm:prSet>
      <dgm:spPr>
        <a:noFill/>
        <a:ln>
          <a:noFill/>
        </a:ln>
      </dgm:spPr>
      <dgm:t>
        <a:bodyPr/>
        <a:lstStyle/>
        <a:p>
          <a:r>
            <a:rPr lang="en-US" sz="1600" b="1" i="0" u="sng" strike="noStrike" cap="none" dirty="0">
              <a:solidFill>
                <a:srgbClr val="1869A6"/>
              </a:solidFill>
              <a:latin typeface="Arial" panose="020B0604020202020204" pitchFamily="34" charset="0"/>
              <a:ea typeface="Arial"/>
              <a:cs typeface="Calibri"/>
              <a:sym typeface="Arial"/>
            </a:rPr>
            <a:t>Key Responsibilities:</a:t>
          </a:r>
        </a:p>
      </dgm:t>
    </dgm:pt>
    <dgm:pt modelId="{3337343D-3B87-47E2-8BC7-FF1E9C5ADF96}" type="parTrans" cxnId="{0E15DA4D-65E6-4CF4-8C1F-FB68494F4CE6}">
      <dgm:prSet/>
      <dgm:spPr/>
      <dgm:t>
        <a:bodyPr/>
        <a:lstStyle/>
        <a:p>
          <a:endParaRPr lang="en-US"/>
        </a:p>
      </dgm:t>
    </dgm:pt>
    <dgm:pt modelId="{2A2D27AD-9116-4C34-8A6B-A917BEBF5971}" type="sibTrans" cxnId="{0E15DA4D-65E6-4CF4-8C1F-FB68494F4CE6}">
      <dgm:prSet/>
      <dgm:spPr/>
      <dgm:t>
        <a:bodyPr/>
        <a:lstStyle/>
        <a:p>
          <a:endParaRPr lang="en-US"/>
        </a:p>
      </dgm:t>
    </dgm:pt>
    <dgm:pt modelId="{13EA423B-3A53-4000-9CB5-09F7BD62E912}">
      <dgm:prSet/>
      <dgm:spPr/>
      <dgm:t>
        <a:bodyPr/>
        <a:lstStyle/>
        <a:p>
          <a:r>
            <a:rPr lang="en-US" b="0" i="0" dirty="0"/>
            <a:t>• Rawan Adel &amp; Mohamed Abdelbary (Data Preprocessing): Responsible for Python-based data cleaning, duplicate removal, and missing value imputation (mode) to prepare the initial dataset. </a:t>
          </a:r>
          <a:endParaRPr lang="en-US" dirty="0"/>
        </a:p>
      </dgm:t>
    </dgm:pt>
    <dgm:pt modelId="{1176AC3C-EAFA-4355-9305-A78A71D39F69}" type="parTrans" cxnId="{6C4DD5A5-ADE9-4B73-8F3A-2CBC4FA4629A}">
      <dgm:prSet/>
      <dgm:spPr/>
      <dgm:t>
        <a:bodyPr/>
        <a:lstStyle/>
        <a:p>
          <a:endParaRPr lang="en-US"/>
        </a:p>
      </dgm:t>
    </dgm:pt>
    <dgm:pt modelId="{79DF9B4A-2C5D-4EA7-A424-29496C63F450}" type="sibTrans" cxnId="{6C4DD5A5-ADE9-4B73-8F3A-2CBC4FA4629A}">
      <dgm:prSet/>
      <dgm:spPr/>
      <dgm:t>
        <a:bodyPr/>
        <a:lstStyle/>
        <a:p>
          <a:endParaRPr lang="en-US"/>
        </a:p>
      </dgm:t>
    </dgm:pt>
    <dgm:pt modelId="{C13B4D9B-A229-4828-85D5-02F62F488F60}">
      <dgm:prSet/>
      <dgm:spPr/>
      <dgm:t>
        <a:bodyPr/>
        <a:lstStyle/>
        <a:p>
          <a:r>
            <a:rPr lang="en-US" b="0" i="0" dirty="0"/>
            <a:t>• Ali Mamdouh &amp; Gehad Adel (Visualization &amp; Modeling): Responsible for data modeling in Power BI, creating data relationships, defining KPIs, and designing the interactive dashboard interface.</a:t>
          </a:r>
          <a:endParaRPr lang="en-US" dirty="0"/>
        </a:p>
      </dgm:t>
    </dgm:pt>
    <dgm:pt modelId="{AA34FC26-4023-4242-AD6D-14A73A97641B}" type="parTrans" cxnId="{FE758BCC-7104-4161-82B3-C1705F8DFC58}">
      <dgm:prSet/>
      <dgm:spPr/>
      <dgm:t>
        <a:bodyPr/>
        <a:lstStyle/>
        <a:p>
          <a:endParaRPr lang="en-US"/>
        </a:p>
      </dgm:t>
    </dgm:pt>
    <dgm:pt modelId="{E7C078C5-2647-4CF0-B191-117BEAE78011}" type="sibTrans" cxnId="{FE758BCC-7104-4161-82B3-C1705F8DFC58}">
      <dgm:prSet/>
      <dgm:spPr/>
      <dgm:t>
        <a:bodyPr/>
        <a:lstStyle/>
        <a:p>
          <a:endParaRPr lang="en-US"/>
        </a:p>
      </dgm:t>
    </dgm:pt>
    <dgm:pt modelId="{CE98F36F-DD28-440E-AB38-769FA3904B47}">
      <dgm:prSet/>
      <dgm:spPr/>
      <dgm:t>
        <a:bodyPr/>
        <a:lstStyle/>
        <a:p>
          <a:r>
            <a:rPr lang="en-US" b="0" i="0"/>
            <a:t>• Arwa Kassim (Reporting &amp; Documentation): Responsible for generating the Data Wrangling Report and the final Business Insights Report. </a:t>
          </a:r>
          <a:endParaRPr lang="en-US"/>
        </a:p>
      </dgm:t>
    </dgm:pt>
    <dgm:pt modelId="{2DB43751-2CBF-449D-8139-8019A5A55592}" type="parTrans" cxnId="{3E1B73C1-4459-4B05-AF74-A39CB348DF2B}">
      <dgm:prSet/>
      <dgm:spPr/>
      <dgm:t>
        <a:bodyPr/>
        <a:lstStyle/>
        <a:p>
          <a:endParaRPr lang="en-US"/>
        </a:p>
      </dgm:t>
    </dgm:pt>
    <dgm:pt modelId="{DEC364D8-1A1B-44A0-B1AB-4D16C45E88B1}" type="sibTrans" cxnId="{3E1B73C1-4459-4B05-AF74-A39CB348DF2B}">
      <dgm:prSet/>
      <dgm:spPr/>
      <dgm:t>
        <a:bodyPr/>
        <a:lstStyle/>
        <a:p>
          <a:endParaRPr lang="en-US"/>
        </a:p>
      </dgm:t>
    </dgm:pt>
    <dgm:pt modelId="{79E86CB0-708E-4AA5-9D12-621ADEBE51E1}">
      <dgm:prSet/>
      <dgm:spPr/>
      <dgm:t>
        <a:bodyPr/>
        <a:lstStyle/>
        <a:p>
          <a:r>
            <a:rPr lang="en-US" b="0" i="0"/>
            <a:t>• Gehad Adel (Presentation): Responsible for preparing the PowerPoint slides and delivering the final presentation.</a:t>
          </a:r>
          <a:endParaRPr lang="en-US"/>
        </a:p>
      </dgm:t>
    </dgm:pt>
    <dgm:pt modelId="{F90BFE00-2057-4A05-AC65-5532F2CEFBFB}" type="parTrans" cxnId="{B9FEFBE7-1375-40B3-AB67-8DCA05728F2A}">
      <dgm:prSet/>
      <dgm:spPr/>
      <dgm:t>
        <a:bodyPr/>
        <a:lstStyle/>
        <a:p>
          <a:endParaRPr lang="en-US"/>
        </a:p>
      </dgm:t>
    </dgm:pt>
    <dgm:pt modelId="{041797DC-1823-40D0-A2E9-AE735E1478B0}" type="sibTrans" cxnId="{B9FEFBE7-1375-40B3-AB67-8DCA05728F2A}">
      <dgm:prSet/>
      <dgm:spPr/>
      <dgm:t>
        <a:bodyPr/>
        <a:lstStyle/>
        <a:p>
          <a:endParaRPr lang="en-US"/>
        </a:p>
      </dgm:t>
    </dgm:pt>
    <dgm:pt modelId="{39DF4A07-BD83-4146-8D62-5A4D338EDE22}" type="pres">
      <dgm:prSet presAssocID="{A39D47B1-DE52-4870-91A5-571B924E3DDB}" presName="Name0" presStyleCnt="0">
        <dgm:presLayoutVars>
          <dgm:dir/>
          <dgm:animLvl val="lvl"/>
          <dgm:resizeHandles val="exact"/>
        </dgm:presLayoutVars>
      </dgm:prSet>
      <dgm:spPr/>
    </dgm:pt>
    <dgm:pt modelId="{D4228D1A-FFE4-41D4-9B82-81464087E310}" type="pres">
      <dgm:prSet presAssocID="{C9B41EBC-C07D-4B2A-B808-54A9CC22A58C}" presName="linNode" presStyleCnt="0"/>
      <dgm:spPr/>
    </dgm:pt>
    <dgm:pt modelId="{472885FF-3F4C-4457-AFC6-055E01B618FD}" type="pres">
      <dgm:prSet presAssocID="{C9B41EBC-C07D-4B2A-B808-54A9CC22A58C}" presName="parentText" presStyleLbl="node1" presStyleIdx="0" presStyleCnt="5" custLinFactNeighborX="-2864" custLinFactNeighborY="3200">
        <dgm:presLayoutVars>
          <dgm:chMax val="1"/>
          <dgm:bulletEnabled val="1"/>
        </dgm:presLayoutVars>
      </dgm:prSet>
      <dgm:spPr/>
    </dgm:pt>
    <dgm:pt modelId="{622A6037-916A-4E9D-B589-ED95D13C7242}" type="pres">
      <dgm:prSet presAssocID="{2A2D27AD-9116-4C34-8A6B-A917BEBF5971}" presName="sp" presStyleCnt="0"/>
      <dgm:spPr/>
    </dgm:pt>
    <dgm:pt modelId="{A78037F2-3059-40F9-9712-CDEBCDDAB578}" type="pres">
      <dgm:prSet presAssocID="{13EA423B-3A53-4000-9CB5-09F7BD62E912}" presName="linNode" presStyleCnt="0"/>
      <dgm:spPr/>
    </dgm:pt>
    <dgm:pt modelId="{35CA98EF-6692-49BC-95C3-8C9C5C137EE4}" type="pres">
      <dgm:prSet presAssocID="{13EA423B-3A53-4000-9CB5-09F7BD62E912}" presName="parentText" presStyleLbl="node1" presStyleIdx="1" presStyleCnt="5">
        <dgm:presLayoutVars>
          <dgm:chMax val="1"/>
          <dgm:bulletEnabled val="1"/>
        </dgm:presLayoutVars>
      </dgm:prSet>
      <dgm:spPr/>
    </dgm:pt>
    <dgm:pt modelId="{53368326-082F-4D42-9328-71724F16D889}" type="pres">
      <dgm:prSet presAssocID="{79DF9B4A-2C5D-4EA7-A424-29496C63F450}" presName="sp" presStyleCnt="0"/>
      <dgm:spPr/>
    </dgm:pt>
    <dgm:pt modelId="{8BE9A436-6BCC-4402-B50D-007A81ED0A88}" type="pres">
      <dgm:prSet presAssocID="{C13B4D9B-A229-4828-85D5-02F62F488F60}" presName="linNode" presStyleCnt="0"/>
      <dgm:spPr/>
    </dgm:pt>
    <dgm:pt modelId="{CADDA900-790E-45E9-9F3E-34F7514BD519}" type="pres">
      <dgm:prSet presAssocID="{C13B4D9B-A229-4828-85D5-02F62F488F60}" presName="parentText" presStyleLbl="node1" presStyleIdx="2" presStyleCnt="5">
        <dgm:presLayoutVars>
          <dgm:chMax val="1"/>
          <dgm:bulletEnabled val="1"/>
        </dgm:presLayoutVars>
      </dgm:prSet>
      <dgm:spPr/>
    </dgm:pt>
    <dgm:pt modelId="{BEBA3801-6468-43A1-AA34-48494A9F140C}" type="pres">
      <dgm:prSet presAssocID="{E7C078C5-2647-4CF0-B191-117BEAE78011}" presName="sp" presStyleCnt="0"/>
      <dgm:spPr/>
    </dgm:pt>
    <dgm:pt modelId="{42D454CA-CA78-4BF9-B095-79F2C45934BD}" type="pres">
      <dgm:prSet presAssocID="{CE98F36F-DD28-440E-AB38-769FA3904B47}" presName="linNode" presStyleCnt="0"/>
      <dgm:spPr/>
    </dgm:pt>
    <dgm:pt modelId="{4D9DA0DF-E255-46F1-B051-971377C5F86D}" type="pres">
      <dgm:prSet presAssocID="{CE98F36F-DD28-440E-AB38-769FA3904B47}" presName="parentText" presStyleLbl="node1" presStyleIdx="3" presStyleCnt="5">
        <dgm:presLayoutVars>
          <dgm:chMax val="1"/>
          <dgm:bulletEnabled val="1"/>
        </dgm:presLayoutVars>
      </dgm:prSet>
      <dgm:spPr/>
    </dgm:pt>
    <dgm:pt modelId="{34A4CBDC-CDCE-43D7-989F-71F8C5819081}" type="pres">
      <dgm:prSet presAssocID="{DEC364D8-1A1B-44A0-B1AB-4D16C45E88B1}" presName="sp" presStyleCnt="0"/>
      <dgm:spPr/>
    </dgm:pt>
    <dgm:pt modelId="{3101D440-F159-4DF2-AC06-0A53226EEDAC}" type="pres">
      <dgm:prSet presAssocID="{79E86CB0-708E-4AA5-9D12-621ADEBE51E1}" presName="linNode" presStyleCnt="0"/>
      <dgm:spPr/>
    </dgm:pt>
    <dgm:pt modelId="{732F5302-674F-453D-B72B-A5E43AF5E7B7}" type="pres">
      <dgm:prSet presAssocID="{79E86CB0-708E-4AA5-9D12-621ADEBE51E1}" presName="parentText" presStyleLbl="node1" presStyleIdx="4" presStyleCnt="5">
        <dgm:presLayoutVars>
          <dgm:chMax val="1"/>
          <dgm:bulletEnabled val="1"/>
        </dgm:presLayoutVars>
      </dgm:prSet>
      <dgm:spPr/>
    </dgm:pt>
  </dgm:ptLst>
  <dgm:cxnLst>
    <dgm:cxn modelId="{8EB13905-56C3-4F5A-B48B-D8944DC09983}" type="presOf" srcId="{A39D47B1-DE52-4870-91A5-571B924E3DDB}" destId="{39DF4A07-BD83-4146-8D62-5A4D338EDE22}" srcOrd="0" destOrd="0" presId="urn:microsoft.com/office/officeart/2005/8/layout/vList5"/>
    <dgm:cxn modelId="{80F8B51D-7C50-48E3-9A62-4D5E907A8176}" type="presOf" srcId="{C9B41EBC-C07D-4B2A-B808-54A9CC22A58C}" destId="{472885FF-3F4C-4457-AFC6-055E01B618FD}" srcOrd="0" destOrd="0" presId="urn:microsoft.com/office/officeart/2005/8/layout/vList5"/>
    <dgm:cxn modelId="{9D6A3735-AB31-4ED9-ABCC-6A36182399FB}" type="presOf" srcId="{CE98F36F-DD28-440E-AB38-769FA3904B47}" destId="{4D9DA0DF-E255-46F1-B051-971377C5F86D}" srcOrd="0" destOrd="0" presId="urn:microsoft.com/office/officeart/2005/8/layout/vList5"/>
    <dgm:cxn modelId="{0E15DA4D-65E6-4CF4-8C1F-FB68494F4CE6}" srcId="{A39D47B1-DE52-4870-91A5-571B924E3DDB}" destId="{C9B41EBC-C07D-4B2A-B808-54A9CC22A58C}" srcOrd="0" destOrd="0" parTransId="{3337343D-3B87-47E2-8BC7-FF1E9C5ADF96}" sibTransId="{2A2D27AD-9116-4C34-8A6B-A917BEBF5971}"/>
    <dgm:cxn modelId="{6C4DD5A5-ADE9-4B73-8F3A-2CBC4FA4629A}" srcId="{A39D47B1-DE52-4870-91A5-571B924E3DDB}" destId="{13EA423B-3A53-4000-9CB5-09F7BD62E912}" srcOrd="1" destOrd="0" parTransId="{1176AC3C-EAFA-4355-9305-A78A71D39F69}" sibTransId="{79DF9B4A-2C5D-4EA7-A424-29496C63F450}"/>
    <dgm:cxn modelId="{71890CB4-7A07-4154-940C-463094453002}" type="presOf" srcId="{13EA423B-3A53-4000-9CB5-09F7BD62E912}" destId="{35CA98EF-6692-49BC-95C3-8C9C5C137EE4}" srcOrd="0" destOrd="0" presId="urn:microsoft.com/office/officeart/2005/8/layout/vList5"/>
    <dgm:cxn modelId="{3E1B73C1-4459-4B05-AF74-A39CB348DF2B}" srcId="{A39D47B1-DE52-4870-91A5-571B924E3DDB}" destId="{CE98F36F-DD28-440E-AB38-769FA3904B47}" srcOrd="3" destOrd="0" parTransId="{2DB43751-2CBF-449D-8139-8019A5A55592}" sibTransId="{DEC364D8-1A1B-44A0-B1AB-4D16C45E88B1}"/>
    <dgm:cxn modelId="{71B3D7C9-52DB-45B2-8804-70F048C57B2B}" type="presOf" srcId="{79E86CB0-708E-4AA5-9D12-621ADEBE51E1}" destId="{732F5302-674F-453D-B72B-A5E43AF5E7B7}" srcOrd="0" destOrd="0" presId="urn:microsoft.com/office/officeart/2005/8/layout/vList5"/>
    <dgm:cxn modelId="{FE758BCC-7104-4161-82B3-C1705F8DFC58}" srcId="{A39D47B1-DE52-4870-91A5-571B924E3DDB}" destId="{C13B4D9B-A229-4828-85D5-02F62F488F60}" srcOrd="2" destOrd="0" parTransId="{AA34FC26-4023-4242-AD6D-14A73A97641B}" sibTransId="{E7C078C5-2647-4CF0-B191-117BEAE78011}"/>
    <dgm:cxn modelId="{57CF8AD8-E5FB-4A2C-AFCA-E2886BEB6226}" type="presOf" srcId="{C13B4D9B-A229-4828-85D5-02F62F488F60}" destId="{CADDA900-790E-45E9-9F3E-34F7514BD519}" srcOrd="0" destOrd="0" presId="urn:microsoft.com/office/officeart/2005/8/layout/vList5"/>
    <dgm:cxn modelId="{B9FEFBE7-1375-40B3-AB67-8DCA05728F2A}" srcId="{A39D47B1-DE52-4870-91A5-571B924E3DDB}" destId="{79E86CB0-708E-4AA5-9D12-621ADEBE51E1}" srcOrd="4" destOrd="0" parTransId="{F90BFE00-2057-4A05-AC65-5532F2CEFBFB}" sibTransId="{041797DC-1823-40D0-A2E9-AE735E1478B0}"/>
    <dgm:cxn modelId="{3012A25C-A745-4C0C-B673-9C77B61BEC90}" type="presParOf" srcId="{39DF4A07-BD83-4146-8D62-5A4D338EDE22}" destId="{D4228D1A-FFE4-41D4-9B82-81464087E310}" srcOrd="0" destOrd="0" presId="urn:microsoft.com/office/officeart/2005/8/layout/vList5"/>
    <dgm:cxn modelId="{E909BE56-DF6E-46BB-9A9E-EF861E64F18F}" type="presParOf" srcId="{D4228D1A-FFE4-41D4-9B82-81464087E310}" destId="{472885FF-3F4C-4457-AFC6-055E01B618FD}" srcOrd="0" destOrd="0" presId="urn:microsoft.com/office/officeart/2005/8/layout/vList5"/>
    <dgm:cxn modelId="{F72D9610-C502-4262-9120-14CA98014801}" type="presParOf" srcId="{39DF4A07-BD83-4146-8D62-5A4D338EDE22}" destId="{622A6037-916A-4E9D-B589-ED95D13C7242}" srcOrd="1" destOrd="0" presId="urn:microsoft.com/office/officeart/2005/8/layout/vList5"/>
    <dgm:cxn modelId="{DA4206AB-9F4C-4EB0-9767-3FA28CE6196D}" type="presParOf" srcId="{39DF4A07-BD83-4146-8D62-5A4D338EDE22}" destId="{A78037F2-3059-40F9-9712-CDEBCDDAB578}" srcOrd="2" destOrd="0" presId="urn:microsoft.com/office/officeart/2005/8/layout/vList5"/>
    <dgm:cxn modelId="{28DA70AD-7307-4254-9CDF-11C10F35066E}" type="presParOf" srcId="{A78037F2-3059-40F9-9712-CDEBCDDAB578}" destId="{35CA98EF-6692-49BC-95C3-8C9C5C137EE4}" srcOrd="0" destOrd="0" presId="urn:microsoft.com/office/officeart/2005/8/layout/vList5"/>
    <dgm:cxn modelId="{5B2C2C17-86DC-4F92-97CD-520A8894A2CE}" type="presParOf" srcId="{39DF4A07-BD83-4146-8D62-5A4D338EDE22}" destId="{53368326-082F-4D42-9328-71724F16D889}" srcOrd="3" destOrd="0" presId="urn:microsoft.com/office/officeart/2005/8/layout/vList5"/>
    <dgm:cxn modelId="{D358A6AD-EBF7-41D6-B904-1BB0947E2D12}" type="presParOf" srcId="{39DF4A07-BD83-4146-8D62-5A4D338EDE22}" destId="{8BE9A436-6BCC-4402-B50D-007A81ED0A88}" srcOrd="4" destOrd="0" presId="urn:microsoft.com/office/officeart/2005/8/layout/vList5"/>
    <dgm:cxn modelId="{09AE38C4-DA38-47C4-8C49-7BDCA6A25831}" type="presParOf" srcId="{8BE9A436-6BCC-4402-B50D-007A81ED0A88}" destId="{CADDA900-790E-45E9-9F3E-34F7514BD519}" srcOrd="0" destOrd="0" presId="urn:microsoft.com/office/officeart/2005/8/layout/vList5"/>
    <dgm:cxn modelId="{7DFA4154-AA4A-48E3-B60B-0BCC6DEA0F3B}" type="presParOf" srcId="{39DF4A07-BD83-4146-8D62-5A4D338EDE22}" destId="{BEBA3801-6468-43A1-AA34-48494A9F140C}" srcOrd="5" destOrd="0" presId="urn:microsoft.com/office/officeart/2005/8/layout/vList5"/>
    <dgm:cxn modelId="{5082E1BF-545B-4EFF-BE7C-30F0CDBEFAE3}" type="presParOf" srcId="{39DF4A07-BD83-4146-8D62-5A4D338EDE22}" destId="{42D454CA-CA78-4BF9-B095-79F2C45934BD}" srcOrd="6" destOrd="0" presId="urn:microsoft.com/office/officeart/2005/8/layout/vList5"/>
    <dgm:cxn modelId="{DA88EB75-B4D0-42B3-8DF8-44C3DD4EFAA4}" type="presParOf" srcId="{42D454CA-CA78-4BF9-B095-79F2C45934BD}" destId="{4D9DA0DF-E255-46F1-B051-971377C5F86D}" srcOrd="0" destOrd="0" presId="urn:microsoft.com/office/officeart/2005/8/layout/vList5"/>
    <dgm:cxn modelId="{791548F5-D3FF-4709-9529-9D0AB9B25F2D}" type="presParOf" srcId="{39DF4A07-BD83-4146-8D62-5A4D338EDE22}" destId="{34A4CBDC-CDCE-43D7-989F-71F8C5819081}" srcOrd="7" destOrd="0" presId="urn:microsoft.com/office/officeart/2005/8/layout/vList5"/>
    <dgm:cxn modelId="{A1FAEDE6-4B80-477B-9AB7-9F05518DFF37}" type="presParOf" srcId="{39DF4A07-BD83-4146-8D62-5A4D338EDE22}" destId="{3101D440-F159-4DF2-AC06-0A53226EEDAC}" srcOrd="8" destOrd="0" presId="urn:microsoft.com/office/officeart/2005/8/layout/vList5"/>
    <dgm:cxn modelId="{CA593158-64FD-458A-8349-42240D5574B3}" type="presParOf" srcId="{3101D440-F159-4DF2-AC06-0A53226EEDAC}" destId="{732F5302-674F-453D-B72B-A5E43AF5E7B7}"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4BD7E1-19E4-4891-854D-A9890C19F7AC}">
      <dsp:nvSpPr>
        <dsp:cNvPr id="0" name=""/>
        <dsp:cNvSpPr/>
      </dsp:nvSpPr>
      <dsp:spPr>
        <a:xfrm>
          <a:off x="574904" y="0"/>
          <a:ext cx="330204" cy="330204"/>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4572CF-FBC1-405C-960B-644F674C1D28}">
      <dsp:nvSpPr>
        <dsp:cNvPr id="0" name=""/>
        <dsp:cNvSpPr/>
      </dsp:nvSpPr>
      <dsp:spPr>
        <a:xfrm>
          <a:off x="607924" y="33020"/>
          <a:ext cx="264163" cy="264163"/>
        </a:xfrm>
        <a:prstGeom prst="chord">
          <a:avLst>
            <a:gd name="adj1" fmla="val 1800000"/>
            <a:gd name="adj2" fmla="val 9000000"/>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E48F24C-51F3-49D2-80E2-F5B77B1231C8}">
      <dsp:nvSpPr>
        <dsp:cNvPr id="0" name=""/>
        <dsp:cNvSpPr/>
      </dsp:nvSpPr>
      <dsp:spPr>
        <a:xfrm>
          <a:off x="470430" y="330204"/>
          <a:ext cx="1983799" cy="1389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t" anchorCtr="0">
          <a:noAutofit/>
        </a:bodyPr>
        <a:lstStyle/>
        <a:p>
          <a:pPr marL="0" lvl="0" indent="0" algn="l" defTabSz="622300">
            <a:lnSpc>
              <a:spcPct val="90000"/>
            </a:lnSpc>
            <a:spcBef>
              <a:spcPct val="0"/>
            </a:spcBef>
            <a:spcAft>
              <a:spcPct val="35000"/>
            </a:spcAft>
            <a:buNone/>
          </a:pPr>
          <a:r>
            <a:rPr lang="en-US" sz="1400" b="0" i="0" u="none" strike="noStrike" kern="1200" cap="none" dirty="0">
              <a:solidFill>
                <a:schemeClr val="tx1"/>
              </a:solidFill>
              <a:latin typeface="+mn-lt"/>
              <a:ea typeface="Calibri"/>
              <a:cs typeface="Calibri"/>
              <a:sym typeface="Calibri"/>
            </a:rPr>
            <a:t>Project Kickoff &amp; Data Understanding</a:t>
          </a:r>
        </a:p>
      </dsp:txBody>
      <dsp:txXfrm>
        <a:off x="470430" y="330204"/>
        <a:ext cx="1983799" cy="1389612"/>
      </dsp:txXfrm>
    </dsp:sp>
    <dsp:sp modelId="{03CC7203-C97F-42A6-8D9B-D90500BCBE98}">
      <dsp:nvSpPr>
        <dsp:cNvPr id="0" name=""/>
        <dsp:cNvSpPr/>
      </dsp:nvSpPr>
      <dsp:spPr>
        <a:xfrm>
          <a:off x="973901" y="0"/>
          <a:ext cx="976855" cy="330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b" anchorCtr="0">
          <a:noAutofit/>
        </a:bodyPr>
        <a:lstStyle/>
        <a:p>
          <a:pPr marL="0" lvl="0" indent="0" algn="l" defTabSz="711200">
            <a:lnSpc>
              <a:spcPct val="90000"/>
            </a:lnSpc>
            <a:spcBef>
              <a:spcPct val="0"/>
            </a:spcBef>
            <a:spcAft>
              <a:spcPct val="35000"/>
            </a:spcAft>
            <a:buNone/>
          </a:pPr>
          <a:r>
            <a:rPr lang="en-US" sz="1600" b="1" i="0" u="none" strike="noStrike" kern="1200" cap="none" dirty="0">
              <a:solidFill>
                <a:srgbClr val="1869A6"/>
              </a:solidFill>
              <a:latin typeface="Arial" panose="020B0604020202020204" pitchFamily="34" charset="0"/>
              <a:ea typeface="Calibri"/>
              <a:cs typeface="Calibri"/>
              <a:sym typeface="Calibri"/>
            </a:rPr>
            <a:t>OCT 25</a:t>
          </a:r>
        </a:p>
      </dsp:txBody>
      <dsp:txXfrm>
        <a:off x="973901" y="0"/>
        <a:ext cx="976855" cy="330204"/>
      </dsp:txXfrm>
    </dsp:sp>
    <dsp:sp modelId="{8AD342C6-57D1-4E92-BA9A-A93AE9B14B5D}">
      <dsp:nvSpPr>
        <dsp:cNvPr id="0" name=""/>
        <dsp:cNvSpPr/>
      </dsp:nvSpPr>
      <dsp:spPr>
        <a:xfrm>
          <a:off x="2808575" y="0"/>
          <a:ext cx="330204" cy="330204"/>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DE9473-1467-47D5-9F67-611EB68BC729}">
      <dsp:nvSpPr>
        <dsp:cNvPr id="0" name=""/>
        <dsp:cNvSpPr/>
      </dsp:nvSpPr>
      <dsp:spPr>
        <a:xfrm>
          <a:off x="2841596" y="33020"/>
          <a:ext cx="264163" cy="264163"/>
        </a:xfrm>
        <a:prstGeom prst="chord">
          <a:avLst>
            <a:gd name="adj1" fmla="val 0"/>
            <a:gd name="adj2" fmla="val 10800000"/>
          </a:avLst>
        </a:prstGeom>
        <a:solidFill>
          <a:schemeClr val="accent5">
            <a:hueOff val="-2252848"/>
            <a:satOff val="-5806"/>
            <a:lumOff val="-3922"/>
            <a:alphaOff val="0"/>
          </a:schemeClr>
        </a:solidFill>
        <a:ln w="25400" cap="flat" cmpd="sng" algn="ctr">
          <a:solidFill>
            <a:schemeClr val="accent5">
              <a:hueOff val="-2252848"/>
              <a:satOff val="-5806"/>
              <a:lumOff val="-392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A55AD9-F65C-4510-9406-8228BE33B2C3}">
      <dsp:nvSpPr>
        <dsp:cNvPr id="0" name=""/>
        <dsp:cNvSpPr/>
      </dsp:nvSpPr>
      <dsp:spPr>
        <a:xfrm>
          <a:off x="2523022" y="330204"/>
          <a:ext cx="2345958" cy="1389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t" anchorCtr="0">
          <a:noAutofit/>
        </a:bodyPr>
        <a:lstStyle/>
        <a:p>
          <a:pPr marL="0" lvl="0" indent="0" algn="l" defTabSz="622300">
            <a:lnSpc>
              <a:spcPct val="90000"/>
            </a:lnSpc>
            <a:spcBef>
              <a:spcPct val="0"/>
            </a:spcBef>
            <a:spcAft>
              <a:spcPct val="35000"/>
            </a:spcAft>
            <a:buNone/>
          </a:pPr>
          <a:r>
            <a:rPr lang="en-US" sz="1400" b="0" i="0" u="none" strike="noStrike" kern="1200" cap="none" dirty="0">
              <a:solidFill>
                <a:srgbClr val="000000"/>
              </a:solidFill>
              <a:latin typeface="Arial"/>
              <a:ea typeface="Calibri"/>
              <a:cs typeface="Calibri"/>
            </a:rPr>
            <a:t>Data Cleaning Report &amp; Modeling Complete</a:t>
          </a:r>
        </a:p>
      </dsp:txBody>
      <dsp:txXfrm>
        <a:off x="2523022" y="330204"/>
        <a:ext cx="2345958" cy="1389612"/>
      </dsp:txXfrm>
    </dsp:sp>
    <dsp:sp modelId="{9B4F6DBC-8806-4F73-84BB-688D97398CC2}">
      <dsp:nvSpPr>
        <dsp:cNvPr id="0" name=""/>
        <dsp:cNvSpPr/>
      </dsp:nvSpPr>
      <dsp:spPr>
        <a:xfrm>
          <a:off x="3207573" y="0"/>
          <a:ext cx="976855" cy="330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b" anchorCtr="0">
          <a:noAutofit/>
        </a:bodyPr>
        <a:lstStyle/>
        <a:p>
          <a:pPr marL="0" lvl="0" indent="0" algn="l" defTabSz="711200">
            <a:lnSpc>
              <a:spcPct val="90000"/>
            </a:lnSpc>
            <a:spcBef>
              <a:spcPct val="0"/>
            </a:spcBef>
            <a:spcAft>
              <a:spcPct val="35000"/>
            </a:spcAft>
            <a:buNone/>
          </a:pPr>
          <a:r>
            <a:rPr lang="en-US" sz="1600" b="1" i="0" u="none" strike="noStrike" kern="1200" cap="none" dirty="0">
              <a:solidFill>
                <a:srgbClr val="1869A6"/>
              </a:solidFill>
              <a:latin typeface="Arial" panose="020B0604020202020204" pitchFamily="34" charset="0"/>
              <a:ea typeface="Calibri"/>
              <a:cs typeface="Calibri"/>
            </a:rPr>
            <a:t>Nov 08</a:t>
          </a:r>
        </a:p>
      </dsp:txBody>
      <dsp:txXfrm>
        <a:off x="3207573" y="0"/>
        <a:ext cx="976855" cy="330204"/>
      </dsp:txXfrm>
    </dsp:sp>
    <dsp:sp modelId="{93AC516D-F4F8-45DA-9617-ECFCCA85352E}">
      <dsp:nvSpPr>
        <dsp:cNvPr id="0" name=""/>
        <dsp:cNvSpPr/>
      </dsp:nvSpPr>
      <dsp:spPr>
        <a:xfrm>
          <a:off x="4937773" y="0"/>
          <a:ext cx="330204" cy="330204"/>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F9290D-6F41-45F3-B2BA-B9FAA191025B}">
      <dsp:nvSpPr>
        <dsp:cNvPr id="0" name=""/>
        <dsp:cNvSpPr/>
      </dsp:nvSpPr>
      <dsp:spPr>
        <a:xfrm>
          <a:off x="4970793" y="33020"/>
          <a:ext cx="264163" cy="264163"/>
        </a:xfrm>
        <a:prstGeom prst="chord">
          <a:avLst>
            <a:gd name="adj1" fmla="val 19800000"/>
            <a:gd name="adj2" fmla="val 12600000"/>
          </a:avLst>
        </a:prstGeom>
        <a:solidFill>
          <a:schemeClr val="accent5">
            <a:hueOff val="-4505695"/>
            <a:satOff val="-11613"/>
            <a:lumOff val="-7843"/>
            <a:alphaOff val="0"/>
          </a:schemeClr>
        </a:solidFill>
        <a:ln w="25400" cap="flat" cmpd="sng" algn="ctr">
          <a:solidFill>
            <a:schemeClr val="accent5">
              <a:hueOff val="-4505695"/>
              <a:satOff val="-11613"/>
              <a:lumOff val="-784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FDB1BC-EF31-42C7-AECF-5B36178BAAD1}">
      <dsp:nvSpPr>
        <dsp:cNvPr id="0" name=""/>
        <dsp:cNvSpPr/>
      </dsp:nvSpPr>
      <dsp:spPr>
        <a:xfrm>
          <a:off x="5137267" y="330204"/>
          <a:ext cx="1375862" cy="1389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t" anchorCtr="0">
          <a:noAutofit/>
        </a:bodyPr>
        <a:lstStyle/>
        <a:p>
          <a:pPr marL="0" lvl="0" indent="0" algn="l" defTabSz="622300">
            <a:lnSpc>
              <a:spcPct val="90000"/>
            </a:lnSpc>
            <a:spcBef>
              <a:spcPct val="0"/>
            </a:spcBef>
            <a:spcAft>
              <a:spcPct val="35000"/>
            </a:spcAft>
            <a:buNone/>
          </a:pPr>
          <a:r>
            <a:rPr lang="en-US" sz="1400" b="0" i="0" u="none" strike="noStrike" kern="1200" cap="none" dirty="0">
              <a:solidFill>
                <a:srgbClr val="000000"/>
              </a:solidFill>
              <a:latin typeface="Arial"/>
              <a:ea typeface="Calibri"/>
              <a:cs typeface="Calibri"/>
            </a:rPr>
            <a:t>Dashboard Development &amp;Beta Testing</a:t>
          </a:r>
        </a:p>
      </dsp:txBody>
      <dsp:txXfrm>
        <a:off x="5137267" y="330204"/>
        <a:ext cx="1375862" cy="1389612"/>
      </dsp:txXfrm>
    </dsp:sp>
    <dsp:sp modelId="{DE15B606-1E38-456E-AFA5-4BA7D950CD8B}">
      <dsp:nvSpPr>
        <dsp:cNvPr id="0" name=""/>
        <dsp:cNvSpPr/>
      </dsp:nvSpPr>
      <dsp:spPr>
        <a:xfrm>
          <a:off x="5336770" y="0"/>
          <a:ext cx="976855" cy="330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b" anchorCtr="0">
          <a:noAutofit/>
        </a:bodyPr>
        <a:lstStyle/>
        <a:p>
          <a:pPr marL="0" lvl="0" indent="0" algn="l" defTabSz="711200">
            <a:lnSpc>
              <a:spcPct val="90000"/>
            </a:lnSpc>
            <a:spcBef>
              <a:spcPct val="0"/>
            </a:spcBef>
            <a:spcAft>
              <a:spcPct val="35000"/>
            </a:spcAft>
            <a:buNone/>
          </a:pPr>
          <a:r>
            <a:rPr lang="en-US" sz="1600" b="1" i="0" u="none" strike="noStrike" kern="1200" cap="none" dirty="0">
              <a:solidFill>
                <a:srgbClr val="1869A6"/>
              </a:solidFill>
              <a:latin typeface="Arial" panose="020B0604020202020204" pitchFamily="34" charset="0"/>
              <a:ea typeface="Calibri"/>
              <a:cs typeface="Calibri"/>
            </a:rPr>
            <a:t>Nov 15</a:t>
          </a:r>
        </a:p>
      </dsp:txBody>
      <dsp:txXfrm>
        <a:off x="5336770" y="0"/>
        <a:ext cx="976855" cy="330204"/>
      </dsp:txXfrm>
    </dsp:sp>
    <dsp:sp modelId="{0C6F5E49-B587-4716-8D35-DD775B48CB8D}">
      <dsp:nvSpPr>
        <dsp:cNvPr id="0" name=""/>
        <dsp:cNvSpPr/>
      </dsp:nvSpPr>
      <dsp:spPr>
        <a:xfrm>
          <a:off x="6581922" y="0"/>
          <a:ext cx="330204" cy="330204"/>
        </a:xfrm>
        <a:prstGeom prst="ellipse">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5A1A38-0B37-4865-B501-B7D86BD2E3CC}">
      <dsp:nvSpPr>
        <dsp:cNvPr id="0" name=""/>
        <dsp:cNvSpPr/>
      </dsp:nvSpPr>
      <dsp:spPr>
        <a:xfrm>
          <a:off x="6614943" y="33020"/>
          <a:ext cx="264163" cy="264163"/>
        </a:xfrm>
        <a:prstGeom prst="chord">
          <a:avLst>
            <a:gd name="adj1" fmla="val 16200000"/>
            <a:gd name="adj2" fmla="val 16200000"/>
          </a:avLst>
        </a:prstGeom>
        <a:solidFill>
          <a:schemeClr val="accent5">
            <a:hueOff val="-6758543"/>
            <a:satOff val="-17419"/>
            <a:lumOff val="-11765"/>
            <a:alphaOff val="0"/>
          </a:schemeClr>
        </a:solidFill>
        <a:ln w="25400" cap="flat" cmpd="sng" algn="ctr">
          <a:solidFill>
            <a:schemeClr val="accent5">
              <a:hueOff val="-6758543"/>
              <a:satOff val="-17419"/>
              <a:lumOff val="-1176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18E8B5F-DC89-4940-BF71-34506D852FD0}">
      <dsp:nvSpPr>
        <dsp:cNvPr id="0" name=""/>
        <dsp:cNvSpPr/>
      </dsp:nvSpPr>
      <dsp:spPr>
        <a:xfrm>
          <a:off x="6740989" y="330204"/>
          <a:ext cx="1456716" cy="1389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35560" rIns="35560" bIns="35560" numCol="1" spcCol="1270" anchor="t" anchorCtr="0">
          <a:noAutofit/>
        </a:bodyPr>
        <a:lstStyle/>
        <a:p>
          <a:pPr marL="0" lvl="0" indent="0" algn="l" defTabSz="622300">
            <a:lnSpc>
              <a:spcPct val="90000"/>
            </a:lnSpc>
            <a:spcBef>
              <a:spcPct val="0"/>
            </a:spcBef>
            <a:spcAft>
              <a:spcPct val="35000"/>
            </a:spcAft>
            <a:buNone/>
          </a:pPr>
          <a:r>
            <a:rPr lang="en-US" sz="1400" b="0" i="0" u="none" strike="noStrike" kern="1200" cap="none" dirty="0">
              <a:solidFill>
                <a:srgbClr val="000000"/>
              </a:solidFill>
              <a:latin typeface="Arial"/>
              <a:ea typeface="Calibri"/>
              <a:cs typeface="Calibri"/>
            </a:rPr>
            <a:t>Final Presentation &amp; Documentation Delivery</a:t>
          </a:r>
        </a:p>
      </dsp:txBody>
      <dsp:txXfrm>
        <a:off x="6740989" y="330204"/>
        <a:ext cx="1456716" cy="1389612"/>
      </dsp:txXfrm>
    </dsp:sp>
    <dsp:sp modelId="{FE5E6BBF-26AD-4AAD-9B6F-D5BA84C556B3}">
      <dsp:nvSpPr>
        <dsp:cNvPr id="0" name=""/>
        <dsp:cNvSpPr/>
      </dsp:nvSpPr>
      <dsp:spPr>
        <a:xfrm>
          <a:off x="6980920" y="0"/>
          <a:ext cx="976855" cy="330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b" anchorCtr="0">
          <a:noAutofit/>
        </a:bodyPr>
        <a:lstStyle/>
        <a:p>
          <a:pPr marL="0" lvl="0" indent="0" algn="l" defTabSz="711200">
            <a:lnSpc>
              <a:spcPct val="90000"/>
            </a:lnSpc>
            <a:spcBef>
              <a:spcPct val="0"/>
            </a:spcBef>
            <a:spcAft>
              <a:spcPct val="35000"/>
            </a:spcAft>
            <a:buNone/>
          </a:pPr>
          <a:r>
            <a:rPr lang="en-US" sz="1600" b="1" i="0" u="none" strike="noStrike" kern="1200" cap="none" dirty="0">
              <a:solidFill>
                <a:srgbClr val="1869A6"/>
              </a:solidFill>
              <a:latin typeface="Arial" panose="020B0604020202020204" pitchFamily="34" charset="0"/>
              <a:ea typeface="Calibri"/>
              <a:cs typeface="Calibri"/>
            </a:rPr>
            <a:t>Nov 29</a:t>
          </a:r>
        </a:p>
      </dsp:txBody>
      <dsp:txXfrm>
        <a:off x="6980920" y="0"/>
        <a:ext cx="976855" cy="3302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2885FF-3F4C-4457-AFC6-055E01B618FD}">
      <dsp:nvSpPr>
        <dsp:cNvPr id="0" name=""/>
        <dsp:cNvSpPr/>
      </dsp:nvSpPr>
      <dsp:spPr>
        <a:xfrm>
          <a:off x="3320143" y="21554"/>
          <a:ext cx="3859514" cy="628644"/>
        </a:xfrm>
        <a:prstGeom prst="roundRect">
          <a:avLst/>
        </a:prstGeom>
        <a:noFill/>
        <a:ln>
          <a:noFill/>
        </a:ln>
        <a:effectLst/>
      </dsp:spPr>
      <dsp:style>
        <a:lnRef idx="0">
          <a:scrgbClr r="0" g="0" b="0"/>
        </a:lnRef>
        <a:fillRef idx="0">
          <a:scrgbClr r="0" g="0" b="0"/>
        </a:fillRef>
        <a:effectRef idx="0">
          <a:scrgbClr r="0" g="0" b="0"/>
        </a:effectRef>
        <a:fontRef idx="minor">
          <a:schemeClr val="dk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1" i="0" u="sng" strike="noStrike" kern="1200" cap="none" dirty="0">
              <a:solidFill>
                <a:srgbClr val="1869A6"/>
              </a:solidFill>
              <a:latin typeface="Arial" panose="020B0604020202020204" pitchFamily="34" charset="0"/>
              <a:ea typeface="Arial"/>
              <a:cs typeface="Calibri"/>
              <a:sym typeface="Arial"/>
            </a:rPr>
            <a:t>Key Responsibilities:</a:t>
          </a:r>
        </a:p>
      </dsp:txBody>
      <dsp:txXfrm>
        <a:off x="3350831" y="52242"/>
        <a:ext cx="3798138" cy="567268"/>
      </dsp:txXfrm>
    </dsp:sp>
    <dsp:sp modelId="{35CA98EF-6692-49BC-95C3-8C9C5C137EE4}">
      <dsp:nvSpPr>
        <dsp:cNvPr id="0" name=""/>
        <dsp:cNvSpPr/>
      </dsp:nvSpPr>
      <dsp:spPr>
        <a:xfrm>
          <a:off x="3430679" y="661514"/>
          <a:ext cx="3859514" cy="628644"/>
        </a:xfrm>
        <a:prstGeom prst="roundRect">
          <a:avLst/>
        </a:prstGeom>
        <a:solidFill>
          <a:schemeClr val="accent5">
            <a:hueOff val="-1689636"/>
            <a:satOff val="-4355"/>
            <a:lumOff val="-294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19050" rIns="38100" bIns="19050" numCol="1" spcCol="1270" anchor="ctr" anchorCtr="0">
          <a:noAutofit/>
        </a:bodyPr>
        <a:lstStyle/>
        <a:p>
          <a:pPr marL="0" lvl="0" indent="0" algn="ctr" defTabSz="444500">
            <a:lnSpc>
              <a:spcPct val="90000"/>
            </a:lnSpc>
            <a:spcBef>
              <a:spcPct val="0"/>
            </a:spcBef>
            <a:spcAft>
              <a:spcPct val="35000"/>
            </a:spcAft>
            <a:buNone/>
          </a:pPr>
          <a:r>
            <a:rPr lang="en-US" sz="1000" b="0" i="0" kern="1200" dirty="0"/>
            <a:t>• Rawan Adel &amp; Mohamed Abdelbary (Data Preprocessing): Responsible for Python-based data cleaning, duplicate removal, and missing value imputation (mode) to prepare the initial dataset. </a:t>
          </a:r>
          <a:endParaRPr lang="en-US" sz="1000" kern="1200" dirty="0"/>
        </a:p>
      </dsp:txBody>
      <dsp:txXfrm>
        <a:off x="3461367" y="692202"/>
        <a:ext cx="3798138" cy="567268"/>
      </dsp:txXfrm>
    </dsp:sp>
    <dsp:sp modelId="{CADDA900-790E-45E9-9F3E-34F7514BD519}">
      <dsp:nvSpPr>
        <dsp:cNvPr id="0" name=""/>
        <dsp:cNvSpPr/>
      </dsp:nvSpPr>
      <dsp:spPr>
        <a:xfrm>
          <a:off x="3430679" y="1321591"/>
          <a:ext cx="3859514" cy="628644"/>
        </a:xfrm>
        <a:prstGeom prst="roundRect">
          <a:avLst/>
        </a:prstGeom>
        <a:solidFill>
          <a:schemeClr val="accent5">
            <a:hueOff val="-3379271"/>
            <a:satOff val="-8710"/>
            <a:lumOff val="-588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19050" rIns="38100" bIns="19050" numCol="1" spcCol="1270" anchor="ctr" anchorCtr="0">
          <a:noAutofit/>
        </a:bodyPr>
        <a:lstStyle/>
        <a:p>
          <a:pPr marL="0" lvl="0" indent="0" algn="ctr" defTabSz="444500">
            <a:lnSpc>
              <a:spcPct val="90000"/>
            </a:lnSpc>
            <a:spcBef>
              <a:spcPct val="0"/>
            </a:spcBef>
            <a:spcAft>
              <a:spcPct val="35000"/>
            </a:spcAft>
            <a:buNone/>
          </a:pPr>
          <a:r>
            <a:rPr lang="en-US" sz="1000" b="0" i="0" kern="1200" dirty="0"/>
            <a:t>• Ali Mamdouh &amp; Gehad Adel (Visualization &amp; Modeling): Responsible for data modeling in Power BI, creating data relationships, defining KPIs, and designing the interactive dashboard interface.</a:t>
          </a:r>
          <a:endParaRPr lang="en-US" sz="1000" kern="1200" dirty="0"/>
        </a:p>
      </dsp:txBody>
      <dsp:txXfrm>
        <a:off x="3461367" y="1352279"/>
        <a:ext cx="3798138" cy="567268"/>
      </dsp:txXfrm>
    </dsp:sp>
    <dsp:sp modelId="{4D9DA0DF-E255-46F1-B051-971377C5F86D}">
      <dsp:nvSpPr>
        <dsp:cNvPr id="0" name=""/>
        <dsp:cNvSpPr/>
      </dsp:nvSpPr>
      <dsp:spPr>
        <a:xfrm>
          <a:off x="3430679" y="1981668"/>
          <a:ext cx="3859514" cy="628644"/>
        </a:xfrm>
        <a:prstGeom prst="roundRect">
          <a:avLst/>
        </a:prstGeom>
        <a:solidFill>
          <a:schemeClr val="accent5">
            <a:hueOff val="-5068907"/>
            <a:satOff val="-13064"/>
            <a:lumOff val="-8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19050" rIns="38100" bIns="19050" numCol="1" spcCol="1270" anchor="ctr" anchorCtr="0">
          <a:noAutofit/>
        </a:bodyPr>
        <a:lstStyle/>
        <a:p>
          <a:pPr marL="0" lvl="0" indent="0" algn="ctr" defTabSz="444500">
            <a:lnSpc>
              <a:spcPct val="90000"/>
            </a:lnSpc>
            <a:spcBef>
              <a:spcPct val="0"/>
            </a:spcBef>
            <a:spcAft>
              <a:spcPct val="35000"/>
            </a:spcAft>
            <a:buNone/>
          </a:pPr>
          <a:r>
            <a:rPr lang="en-US" sz="1000" b="0" i="0" kern="1200"/>
            <a:t>• Arwa Kassim (Reporting &amp; Documentation): Responsible for generating the Data Wrangling Report and the final Business Insights Report. </a:t>
          </a:r>
          <a:endParaRPr lang="en-US" sz="1000" kern="1200"/>
        </a:p>
      </dsp:txBody>
      <dsp:txXfrm>
        <a:off x="3461367" y="2012356"/>
        <a:ext cx="3798138" cy="567268"/>
      </dsp:txXfrm>
    </dsp:sp>
    <dsp:sp modelId="{732F5302-674F-453D-B72B-A5E43AF5E7B7}">
      <dsp:nvSpPr>
        <dsp:cNvPr id="0" name=""/>
        <dsp:cNvSpPr/>
      </dsp:nvSpPr>
      <dsp:spPr>
        <a:xfrm>
          <a:off x="3430679" y="2641745"/>
          <a:ext cx="3859514" cy="628644"/>
        </a:xfrm>
        <a:prstGeom prst="roundRect">
          <a:avLst/>
        </a:prstGeom>
        <a:solidFill>
          <a:schemeClr val="accent5">
            <a:hueOff val="-6758543"/>
            <a:satOff val="-17419"/>
            <a:lumOff val="-1176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19050" rIns="38100" bIns="19050" numCol="1" spcCol="1270" anchor="ctr" anchorCtr="0">
          <a:noAutofit/>
        </a:bodyPr>
        <a:lstStyle/>
        <a:p>
          <a:pPr marL="0" lvl="0" indent="0" algn="ctr" defTabSz="444500">
            <a:lnSpc>
              <a:spcPct val="90000"/>
            </a:lnSpc>
            <a:spcBef>
              <a:spcPct val="0"/>
            </a:spcBef>
            <a:spcAft>
              <a:spcPct val="35000"/>
            </a:spcAft>
            <a:buNone/>
          </a:pPr>
          <a:r>
            <a:rPr lang="en-US" sz="1000" b="0" i="0" kern="1200"/>
            <a:t>• Gehad Adel (Presentation): Responsible for preparing the PowerPoint slides and delivering the final presentation.</a:t>
          </a:r>
          <a:endParaRPr lang="en-US" sz="1000" kern="1200"/>
        </a:p>
      </dsp:txBody>
      <dsp:txXfrm>
        <a:off x="3461367" y="2672433"/>
        <a:ext cx="3798138" cy="567268"/>
      </dsp:txXfrm>
    </dsp:sp>
  </dsp:spTree>
</dsp:drawing>
</file>

<file path=ppt/diagrams/layout1.xml><?xml version="1.0" encoding="utf-8"?>
<dgm:layoutDef xmlns:dgm="http://schemas.openxmlformats.org/drawingml/2006/diagram" xmlns:a="http://schemas.openxmlformats.org/drawingml/2006/main" uniqueId="urn:microsoft.com/office/officeart/2008/layout/IncreasingCircleProcess">
  <dgm:title val=""/>
  <dgm:desc val=""/>
  <dgm:catLst>
    <dgm:cat type="list" pri="8300"/>
    <dgm:cat type="process" pri="43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param type="horzAlign" val="ctr"/>
          <dgm:param type="vertAlign" val="t"/>
        </dgm:alg>
      </dgm:if>
      <dgm:else name="Name3">
        <dgm:alg type="lin">
          <dgm:param type="linDir" val="fromR"/>
          <dgm:param type="horzAlign" val="ctr"/>
          <dgm:param type="vertAlign" val="t"/>
        </dgm:alg>
      </dgm:else>
    </dgm:choose>
    <dgm:shape xmlns:r="http://schemas.openxmlformats.org/officeDocument/2006/relationships" r:blip="">
      <dgm:adjLst/>
    </dgm:shape>
    <dgm:constrLst>
      <dgm:constr type="primFontSz" for="des" forName="Child" val="65"/>
      <dgm:constr type="primFontSz" for="des" forName="Parent" val="65"/>
      <dgm:constr type="primFontSz" for="des" forName="Child" refType="primFontSz" refFor="des" refForName="Parent" op="lte"/>
      <dgm:constr type="w" for="ch" forName="composite" refType="w"/>
      <dgm:constr type="h" for="ch" forName="composite" refType="h"/>
      <dgm:constr type="sp" refType="w" refFor="ch" refForName="composite" op="equ" fact="0.05"/>
      <dgm:constr type="w" for="ch" forName="sibTrans" refType="h" refFor="ch" refForName="composite" op="equ" fact="0.04"/>
    </dgm:constrLst>
    <dgm:forEach name="nodesForEach" axis="ch" ptType="node" cnt="7">
      <dgm:layoutNode name="composite">
        <dgm:alg type="composite">
          <dgm:param type="ar" val="0.8"/>
        </dgm:alg>
        <dgm:choose name="Name4">
          <dgm:if name="Name5" func="var" arg="dir" op="equ" val="norm">
            <dgm:constrLst>
              <dgm:constr type="l" for="ch" forName="Child" refType="w" fact="0.29"/>
              <dgm:constr type="t" for="ch" forName="Child" refType="h" fact="0.192"/>
              <dgm:constr type="w" for="ch" forName="Child" refType="w" fact="0.71"/>
              <dgm:constr type="h" for="ch" forName="Child" refType="h" fact="0.808"/>
              <dgm:constr type="l" for="ch" forName="Parent" refType="w" fact="0.29"/>
              <dgm:constr type="t" for="ch" forName="Parent" refType="h" fact="0"/>
              <dgm:constr type="w" for="ch" forName="Parent" refType="w" fact="0.71"/>
              <dgm:constr type="h" for="ch" forName="Parent" refType="h" fact="0.192"/>
              <dgm:constr type="l" for="ch" forName="BackAccent" refType="w" fact="0"/>
              <dgm:constr type="t" for="ch" forName="BackAccent" refType="h" fact="0"/>
              <dgm:constr type="w" for="ch" forName="BackAccent" refType="w" fact="0.24"/>
              <dgm:constr type="h" for="ch" forName="BackAccent" refType="h" fact="0.192"/>
              <dgm:constr type="l" for="ch" forName="Accent" refType="w" fact="0.024"/>
              <dgm:constr type="t" for="ch" forName="Accent" refType="h" fact="0.0192"/>
              <dgm:constr type="w" for="ch" forName="Accent" refType="w" fact="0.192"/>
              <dgm:constr type="h" for="ch" forName="Accent" refType="h" fact="0.1536"/>
            </dgm:constrLst>
          </dgm:if>
          <dgm:else name="Name6">
            <dgm:constrLst>
              <dgm:constr type="r" for="ch" forName="Child" refType="w" fact="0.71"/>
              <dgm:constr type="t" for="ch" forName="Child" refType="h" fact="0.192"/>
              <dgm:constr type="w" for="ch" forName="Child" refType="w" fact="0.71"/>
              <dgm:constr type="h" for="ch" forName="Child" refType="h" fact="0.808"/>
              <dgm:constr type="r" for="ch" forName="Parent" refType="w" fact="0.71"/>
              <dgm:constr type="t" for="ch" forName="Parent" refType="h" fact="0"/>
              <dgm:constr type="w" for="ch" forName="Parent" refType="w" fact="0.71"/>
              <dgm:constr type="h" for="ch" forName="Parent" refType="h" fact="0.192"/>
              <dgm:constr type="r" for="ch" forName="BackAccent" refType="w"/>
              <dgm:constr type="t" for="ch" forName="BackAccent" refType="h" fact="0"/>
              <dgm:constr type="w" for="ch" forName="BackAccent" refType="w" fact="0.24"/>
              <dgm:constr type="h" for="ch" forName="BackAccent" refType="h" fact="0.192"/>
              <dgm:constr type="r" for="ch" forName="Accent" refType="w" fact="0.976"/>
              <dgm:constr type="t" for="ch" forName="Accent" refType="h" fact="0.0192"/>
              <dgm:constr type="w" for="ch" forName="Accent" refType="w" fact="0.192"/>
              <dgm:constr type="h" for="ch" forName="Accent" refType="h" fact="0.1536"/>
            </dgm:constrLst>
          </dgm:else>
        </dgm:choose>
        <dgm:layoutNode name="BackAccent" styleLbl="bgShp">
          <dgm:alg type="sp"/>
          <dgm:shape xmlns:r="http://schemas.openxmlformats.org/officeDocument/2006/relationships" type="ellipse" r:blip="">
            <dgm:adjLst/>
          </dgm:shape>
          <dgm:presOf/>
        </dgm:layoutNode>
        <dgm:layoutNode name="Accent" styleLbl="alignNode1">
          <dgm:alg type="sp"/>
          <dgm:choose name="Name7">
            <dgm:if name="Name8" axis="precedSib" ptType="node" func="cnt" op="equ" val="0">
              <dgm:choose name="Name9">
                <dgm:if name="Name10" axis="followSib" ptType="node" func="cnt" op="equ" val="0">
                  <dgm:shape xmlns:r="http://schemas.openxmlformats.org/officeDocument/2006/relationships" type="chord" r:blip="">
                    <dgm:adjLst>
                      <dgm:adj idx="1" val="-90"/>
                      <dgm:adj idx="2" val="-90"/>
                    </dgm:adjLst>
                  </dgm:shape>
                </dgm:if>
                <dgm:if name="Name11" axis="followSib" ptType="node" func="cnt" op="equ" val="1">
                  <dgm:shape xmlns:r="http://schemas.openxmlformats.org/officeDocument/2006/relationships" type="chord" r:blip="">
                    <dgm:adjLst>
                      <dgm:adj idx="1" val="0"/>
                      <dgm:adj idx="2" val="180"/>
                    </dgm:adjLst>
                  </dgm:shape>
                </dgm:if>
                <dgm:if name="Name12" axis="followSib" ptType="node" func="cnt" op="equ" val="2">
                  <dgm:shape xmlns:r="http://schemas.openxmlformats.org/officeDocument/2006/relationships" type="chord" r:blip="">
                    <dgm:adjLst>
                      <dgm:adj idx="1" val="19.4712"/>
                      <dgm:adj idx="2" val="160.5288"/>
                    </dgm:adjLst>
                  </dgm:shape>
                </dgm:if>
                <dgm:if name="Name13" axis="followSib" ptType="node" func="cnt" op="equ" val="3">
                  <dgm:shape xmlns:r="http://schemas.openxmlformats.org/officeDocument/2006/relationships" type="chord" r:blip="">
                    <dgm:adjLst>
                      <dgm:adj idx="1" val="30"/>
                      <dgm:adj idx="2" val="150"/>
                    </dgm:adjLst>
                  </dgm:shape>
                </dgm:if>
                <dgm:if name="Name14" axis="followSib" ptType="node" func="cnt" op="equ" val="4">
                  <dgm:shape xmlns:r="http://schemas.openxmlformats.org/officeDocument/2006/relationships" type="chord" r:blip="">
                    <dgm:adjLst>
                      <dgm:adj idx="1" val="38.8699"/>
                      <dgm:adj idx="2" val="143.1301"/>
                    </dgm:adjLst>
                  </dgm:shape>
                </dgm:if>
                <dgm:if name="Name15" axis="followSib" ptType="node" func="cnt" op="equ" val="5">
                  <dgm:shape xmlns:r="http://schemas.openxmlformats.org/officeDocument/2006/relationships" type="chord" r:blip="">
                    <dgm:adjLst>
                      <dgm:adj idx="1" val="41.8103"/>
                      <dgm:adj idx="2" val="138.1897"/>
                    </dgm:adjLst>
                  </dgm:shape>
                </dgm:if>
                <dgm:else name="Name16">
                  <dgm:shape xmlns:r="http://schemas.openxmlformats.org/officeDocument/2006/relationships" type="chord" r:blip="">
                    <dgm:adjLst>
                      <dgm:adj idx="1" val="45.5847"/>
                      <dgm:adj idx="2" val="134.4153"/>
                    </dgm:adjLst>
                  </dgm:shape>
                </dgm:else>
              </dgm:choose>
            </dgm:if>
            <dgm:if name="Name17" axis="precedSib" ptType="node" func="cnt" op="equ" val="1">
              <dgm:choose name="Name18">
                <dgm:if name="Name19" axis="followSib" ptType="node" func="cnt" op="equ" val="0">
                  <dgm:shape xmlns:r="http://schemas.openxmlformats.org/officeDocument/2006/relationships" type="chord" r:blip="">
                    <dgm:adjLst>
                      <dgm:adj idx="1" val="-90"/>
                      <dgm:adj idx="2" val="-90"/>
                    </dgm:adjLst>
                  </dgm:shape>
                </dgm:if>
                <dgm:if name="Name20" axis="followSib" ptType="node" func="cnt" op="equ" val="1">
                  <dgm:shape xmlns:r="http://schemas.openxmlformats.org/officeDocument/2006/relationships" type="chord" r:blip="">
                    <dgm:adjLst>
                      <dgm:adj idx="1" val="-19.4712"/>
                      <dgm:adj idx="2" val="-160.5288"/>
                    </dgm:adjLst>
                  </dgm:shape>
                </dgm:if>
                <dgm:if name="Name21" axis="followSib" ptType="node" func="cnt" op="equ" val="2">
                  <dgm:shape xmlns:r="http://schemas.openxmlformats.org/officeDocument/2006/relationships" type="chord" r:blip="">
                    <dgm:adjLst>
                      <dgm:adj idx="1" val="0"/>
                      <dgm:adj idx="2" val="180"/>
                    </dgm:adjLst>
                  </dgm:shape>
                </dgm:if>
                <dgm:if name="Name22" axis="followSib" ptType="node" func="cnt" op="equ" val="3">
                  <dgm:shape xmlns:r="http://schemas.openxmlformats.org/officeDocument/2006/relationships" type="chord" r:blip="">
                    <dgm:adjLst>
                      <dgm:adj idx="1" val="11.537"/>
                      <dgm:adj idx="2" val="168.463"/>
                    </dgm:adjLst>
                  </dgm:shape>
                </dgm:if>
                <dgm:if name="Name23" axis="followSib" ptType="node" func="cnt" op="equ" val="4">
                  <dgm:shape xmlns:r="http://schemas.openxmlformats.org/officeDocument/2006/relationships" type="chord" r:blip="">
                    <dgm:adjLst>
                      <dgm:adj idx="1" val="19.4712"/>
                      <dgm:adj idx="2" val="160.5288"/>
                    </dgm:adjLst>
                  </dgm:shape>
                </dgm:if>
                <dgm:else name="Name24">
                  <dgm:shape xmlns:r="http://schemas.openxmlformats.org/officeDocument/2006/relationships" type="chord" r:blip="">
                    <dgm:adjLst>
                      <dgm:adj idx="1" val="25.3769"/>
                      <dgm:adj idx="2" val="154.6231"/>
                    </dgm:adjLst>
                  </dgm:shape>
                </dgm:else>
              </dgm:choose>
            </dgm:if>
            <dgm:if name="Name25" axis="precedSib" ptType="node" func="cnt" op="equ" val="2">
              <dgm:choose name="Name26">
                <dgm:if name="Name27" axis="followSib" ptType="node" func="cnt" op="equ" val="0">
                  <dgm:shape xmlns:r="http://schemas.openxmlformats.org/officeDocument/2006/relationships" type="chord" r:blip="">
                    <dgm:adjLst>
                      <dgm:adj idx="1" val="-90"/>
                      <dgm:adj idx="2" val="-90"/>
                    </dgm:adjLst>
                  </dgm:shape>
                </dgm:if>
                <dgm:if name="Name28" axis="followSib" ptType="node" func="cnt" op="equ" val="1">
                  <dgm:shape xmlns:r="http://schemas.openxmlformats.org/officeDocument/2006/relationships" type="chord" r:blip="">
                    <dgm:adjLst>
                      <dgm:adj idx="1" val="-30"/>
                      <dgm:adj idx="2" val="-150"/>
                    </dgm:adjLst>
                  </dgm:shape>
                </dgm:if>
                <dgm:if name="Name29" axis="followSib" ptType="node" func="cnt" op="equ" val="2">
                  <dgm:shape xmlns:r="http://schemas.openxmlformats.org/officeDocument/2006/relationships" type="chord" r:blip="">
                    <dgm:adjLst>
                      <dgm:adj idx="1" val="-11.537"/>
                      <dgm:adj idx="2" val="-168.463"/>
                    </dgm:adjLst>
                  </dgm:shape>
                </dgm:if>
                <dgm:if name="Name30" axis="followSib" ptType="node" func="cnt" op="equ" val="3">
                  <dgm:shape xmlns:r="http://schemas.openxmlformats.org/officeDocument/2006/relationships" type="chord" r:blip="">
                    <dgm:adjLst>
                      <dgm:adj idx="1" val="0"/>
                      <dgm:adj idx="2" val="180"/>
                    </dgm:adjLst>
                  </dgm:shape>
                </dgm:if>
                <dgm:else name="Name31">
                  <dgm:shape xmlns:r="http://schemas.openxmlformats.org/officeDocument/2006/relationships" type="chord" r:blip="">
                    <dgm:adjLst>
                      <dgm:adj idx="1" val="8.2133"/>
                      <dgm:adj idx="2" val="171.7867"/>
                    </dgm:adjLst>
                  </dgm:shape>
                </dgm:else>
              </dgm:choose>
            </dgm:if>
            <dgm:if name="Name32" axis="precedSib" ptType="node" func="cnt" op="equ" val="3">
              <dgm:choose name="Name33">
                <dgm:if name="Name34" axis="followSib" ptType="node" func="cnt" op="equ" val="0">
                  <dgm:shape xmlns:r="http://schemas.openxmlformats.org/officeDocument/2006/relationships" type="chord" r:blip="">
                    <dgm:adjLst>
                      <dgm:adj idx="1" val="-90"/>
                      <dgm:adj idx="2" val="-90"/>
                    </dgm:adjLst>
                  </dgm:shape>
                </dgm:if>
                <dgm:if name="Name35" axis="followSib" ptType="node" func="cnt" op="equ" val="1">
                  <dgm:shape xmlns:r="http://schemas.openxmlformats.org/officeDocument/2006/relationships" type="chord" r:blip="">
                    <dgm:adjLst>
                      <dgm:adj idx="1" val="-38.8699"/>
                      <dgm:adj idx="2" val="-143.1301"/>
                    </dgm:adjLst>
                  </dgm:shape>
                </dgm:if>
                <dgm:if name="Name36" axis="followSib" ptType="node" func="cnt" op="equ" val="2">
                  <dgm:shape xmlns:r="http://schemas.openxmlformats.org/officeDocument/2006/relationships" type="chord" r:blip="">
                    <dgm:adjLst>
                      <dgm:adj idx="1" val="-19.4712"/>
                      <dgm:adj idx="2" val="-160.5288"/>
                    </dgm:adjLst>
                  </dgm:shape>
                </dgm:if>
                <dgm:else name="Name37">
                  <dgm:shape xmlns:r="http://schemas.openxmlformats.org/officeDocument/2006/relationships" type="chord" r:blip="">
                    <dgm:adjLst>
                      <dgm:adj idx="1" val="-8.2133"/>
                      <dgm:adj idx="2" val="-171.7867"/>
                    </dgm:adjLst>
                  </dgm:shape>
                </dgm:else>
              </dgm:choose>
            </dgm:if>
            <dgm:if name="Name38" axis="precedSib" ptType="node" func="cnt" op="equ" val="4">
              <dgm:choose name="Name39">
                <dgm:if name="Name40" axis="followSib" ptType="node" func="cnt" op="equ" val="0">
                  <dgm:shape xmlns:r="http://schemas.openxmlformats.org/officeDocument/2006/relationships" type="chord" r:blip="">
                    <dgm:adjLst>
                      <dgm:adj idx="1" val="-90"/>
                      <dgm:adj idx="2" val="-90"/>
                    </dgm:adjLst>
                  </dgm:shape>
                </dgm:if>
                <dgm:if name="Name41" axis="followSib" ptType="node" func="cnt" op="equ" val="1">
                  <dgm:shape xmlns:r="http://schemas.openxmlformats.org/officeDocument/2006/relationships" type="chord" r:blip="">
                    <dgm:adjLst>
                      <dgm:adj idx="1" val="-41.8103"/>
                      <dgm:adj idx="2" val="-138.1897"/>
                    </dgm:adjLst>
                  </dgm:shape>
                </dgm:if>
                <dgm:else name="Name42">
                  <dgm:shape xmlns:r="http://schemas.openxmlformats.org/officeDocument/2006/relationships" type="chord" r:blip="">
                    <dgm:adjLst>
                      <dgm:adj idx="1" val="-25.3769"/>
                      <dgm:adj idx="2" val="-154.6231"/>
                    </dgm:adjLst>
                  </dgm:shape>
                </dgm:else>
              </dgm:choose>
            </dgm:if>
            <dgm:if name="Name43" axis="precedSib" ptType="node" func="cnt" op="equ" val="5">
              <dgm:choose name="Name44">
                <dgm:if name="Name45" axis="followSib" ptType="node" func="cnt" op="equ" val="0">
                  <dgm:shape xmlns:r="http://schemas.openxmlformats.org/officeDocument/2006/relationships" type="chord" r:blip="">
                    <dgm:adjLst>
                      <dgm:adj idx="1" val="-90"/>
                      <dgm:adj idx="2" val="-90"/>
                    </dgm:adjLst>
                  </dgm:shape>
                </dgm:if>
                <dgm:else name="Name46">
                  <dgm:shape xmlns:r="http://schemas.openxmlformats.org/officeDocument/2006/relationships" type="chord" r:blip="">
                    <dgm:adjLst>
                      <dgm:adj idx="1" val="-45.5847"/>
                      <dgm:adj idx="2" val="-134.4153"/>
                    </dgm:adjLst>
                  </dgm:shape>
                </dgm:else>
              </dgm:choose>
            </dgm:if>
            <dgm:else name="Name47">
              <dgm:shape xmlns:r="http://schemas.openxmlformats.org/officeDocument/2006/relationships" type="chord" r:blip="">
                <dgm:adjLst>
                  <dgm:adj idx="1" val="-90"/>
                  <dgm:adj idx="2" val="-90"/>
                </dgm:adjLst>
              </dgm:shape>
            </dgm:else>
          </dgm:choose>
          <dgm:presOf/>
        </dgm:layoutNode>
        <dgm:layoutNode name="Child" styleLbl="revTx">
          <dgm:varLst>
            <dgm:chMax val="0"/>
            <dgm:chPref val="0"/>
            <dgm:bulletEnabled val="1"/>
          </dgm:varLst>
          <dgm:choose name="Name48">
            <dgm:if name="Name49" func="var" arg="dir" op="equ" val="norm">
              <dgm:alg type="tx">
                <dgm:param type="parTxLTRAlign" val="l"/>
                <dgm:param type="parTxRTLAlign" val="l"/>
                <dgm:param type="txAnchorVert" val="t"/>
              </dgm:alg>
            </dgm:if>
            <dgm:else name="Name50">
              <dgm:alg type="tx">
                <dgm:param type="parTxLTRAlign" val="r"/>
                <dgm:param type="parTxRTLAlign" val="r"/>
                <dgm:param type="txAnchorVert" val="t"/>
              </dgm:alg>
            </dgm:else>
          </dgm:choose>
          <dgm:choose name="Name51">
            <dgm:if name="Name52" axis="ch" ptType="node" func="cnt" op="gte" val="1">
              <dgm:shape xmlns:r="http://schemas.openxmlformats.org/officeDocument/2006/relationships" type="rect" r:blip="">
                <dgm:adjLst/>
              </dgm:shape>
            </dgm:if>
            <dgm:else name="Name53">
              <dgm:shape xmlns:r="http://schemas.openxmlformats.org/officeDocument/2006/relationships" type="rect" r:blip="" hideGeom="1">
                <dgm:adjLst/>
              </dgm:shape>
            </dgm:else>
          </dgm:choose>
          <dgm:choose name="Name54">
            <dgm:if name="Name55" axis="ch" ptType="node" func="cnt" op="gte" val="1">
              <dgm:presOf axis="des" ptType="node"/>
            </dgm:if>
            <dgm:else name="Name56">
              <dgm:presOf/>
            </dgm:else>
          </dgm:choos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revTx">
          <dgm:varLst>
            <dgm:chMax val="1"/>
            <dgm:chPref val="1"/>
            <dgm:bulletEnabled val="1"/>
          </dgm:varLst>
          <dgm:choose name="Name57">
            <dgm:if name="Name58" func="var" arg="dir" op="equ" val="norm">
              <dgm:alg type="tx">
                <dgm:param type="parTxLTRAlign" val="l"/>
                <dgm:param type="parTxRTLAlign" val="l"/>
                <dgm:param type="shpTxLTRAlignCh" val="l"/>
                <dgm:param type="shpTxRTLAlignCh" val="l"/>
                <dgm:param type="txAnchorVert" val="b"/>
                <dgm:param type="txAnchorVertCh" val="b"/>
              </dgm:alg>
            </dgm:if>
            <dgm:else name="Name59">
              <dgm:alg type="tx">
                <dgm:param type="parTxLTRAlign" val="r"/>
                <dgm:param type="parTxRTLAlign" val="r"/>
                <dgm:param type="shpTxLTRAlignCh" val="r"/>
                <dgm:param type="shpTxRTLAlignCh" val="r"/>
                <dgm:param type="txAnchorVert" val="b"/>
                <dgm:param type="txAnchorVertCh" val="b"/>
              </dgm:alg>
            </dgm:else>
          </dgm:choose>
          <dgm:shape xmlns:r="http://schemas.openxmlformats.org/officeDocument/2006/relationships" type="rect" r:blip="">
            <dgm:adjLst/>
          </dgm:shape>
          <dgm:presOf axis="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8" name="Google Shape;15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8" name="Google Shape;15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756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8" name="Google Shape;16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14402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06454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0043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1774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07122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7396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sp>
        <p:nvSpPr>
          <p:cNvPr id="25" name="Google Shape;25;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 name="Google Shape;2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6"/>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pic>
        <p:nvPicPr>
          <p:cNvPr id="44" name="Google Shape;44;p18"/>
          <p:cNvPicPr preferRelativeResize="0"/>
          <p:nvPr/>
        </p:nvPicPr>
        <p:blipFill rotWithShape="1">
          <a:blip r:embed="rId2">
            <a:alphaModFix/>
          </a:blip>
          <a:srcRect/>
          <a:stretch/>
        </p:blipFill>
        <p:spPr>
          <a:xfrm>
            <a:off x="-6350" y="0"/>
            <a:ext cx="12192000" cy="6858000"/>
          </a:xfrm>
          <a:prstGeom prst="rect">
            <a:avLst/>
          </a:prstGeom>
          <a:noFill/>
          <a:ln>
            <a:noFill/>
          </a:ln>
        </p:spPr>
      </p:pic>
      <p:pic>
        <p:nvPicPr>
          <p:cNvPr id="45" name="Google Shape;45;p18"/>
          <p:cNvPicPr preferRelativeResize="0"/>
          <p:nvPr/>
        </p:nvPicPr>
        <p:blipFill rotWithShape="1">
          <a:blip r:embed="rId3">
            <a:alphaModFix/>
          </a:blip>
          <a:srcRect/>
          <a:stretch/>
        </p:blipFill>
        <p:spPr>
          <a:xfrm>
            <a:off x="10711512" y="330213"/>
            <a:ext cx="1284576" cy="637759"/>
          </a:xfrm>
          <a:prstGeom prst="rect">
            <a:avLst/>
          </a:prstGeom>
          <a:noFill/>
          <a:ln>
            <a:noFill/>
          </a:ln>
        </p:spPr>
      </p:pic>
      <p:sp>
        <p:nvSpPr>
          <p:cNvPr id="46" name="Google Shape;46;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8" name="Google Shape;4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8"/>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 name="Google Shape;50;p1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51" name="Google Shape;51;p18"/>
          <p:cNvPicPr preferRelativeResize="0"/>
          <p:nvPr/>
        </p:nvPicPr>
        <p:blipFill rotWithShape="1">
          <a:blip r:embed="rId4">
            <a:alphaModFix/>
          </a:blip>
          <a:srcRect/>
          <a:stretch/>
        </p:blipFill>
        <p:spPr>
          <a:xfrm>
            <a:off x="93317" y="0"/>
            <a:ext cx="1489765" cy="1386637"/>
          </a:xfrm>
          <a:prstGeom prst="rect">
            <a:avLst/>
          </a:prstGeom>
          <a:noFill/>
          <a:ln>
            <a:noFill/>
          </a:ln>
        </p:spPr>
      </p:pic>
      <p:sp>
        <p:nvSpPr>
          <p:cNvPr id="52" name="Google Shape;52;p18"/>
          <p:cNvSpPr/>
          <p:nvPr/>
        </p:nvSpPr>
        <p:spPr>
          <a:xfrm>
            <a:off x="10933155"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sp>
        <p:nvSpPr>
          <p:cNvPr id="53" name="Google Shape;5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4"/>
        <p:cNvGrpSpPr/>
        <p:nvPr/>
      </p:nvGrpSpPr>
      <p:grpSpPr>
        <a:xfrm>
          <a:off x="0" y="0"/>
          <a:ext cx="0" cy="0"/>
          <a:chOff x="0" y="0"/>
          <a:chExt cx="0" cy="0"/>
        </a:xfrm>
      </p:grpSpPr>
      <p:sp>
        <p:nvSpPr>
          <p:cNvPr id="55" name="Google Shape;55;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1"/>
        <p:cNvGrpSpPr/>
        <p:nvPr/>
      </p:nvGrpSpPr>
      <p:grpSpPr>
        <a:xfrm>
          <a:off x="0" y="0"/>
          <a:ext cx="0" cy="0"/>
          <a:chOff x="0" y="0"/>
          <a:chExt cx="0" cy="0"/>
        </a:xfrm>
      </p:grpSpPr>
      <p:sp>
        <p:nvSpPr>
          <p:cNvPr id="62" name="Google Shape;62;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4" name="Google Shape;64;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0"/>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3" name="Google Shape;73;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1"/>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7"/>
        <p:cNvGrpSpPr/>
        <p:nvPr/>
      </p:nvGrpSpPr>
      <p:grpSpPr>
        <a:xfrm>
          <a:off x="0" y="0"/>
          <a:ext cx="0" cy="0"/>
          <a:chOff x="0" y="0"/>
          <a:chExt cx="0" cy="0"/>
        </a:xfrm>
      </p:grpSpPr>
      <p:sp>
        <p:nvSpPr>
          <p:cNvPr id="78" name="Google Shape;78;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2"/>
          <p:cNvSpPr>
            <a:spLocks noGrp="1"/>
          </p:cNvSpPr>
          <p:nvPr>
            <p:ph type="pic" idx="2"/>
          </p:nvPr>
        </p:nvSpPr>
        <p:spPr>
          <a:xfrm>
            <a:off x="5183188" y="987425"/>
            <a:ext cx="6172200" cy="4873625"/>
          </a:xfrm>
          <a:prstGeom prst="rect">
            <a:avLst/>
          </a:prstGeom>
          <a:noFill/>
          <a:ln>
            <a:noFill/>
          </a:ln>
        </p:spPr>
      </p:sp>
      <p:sp>
        <p:nvSpPr>
          <p:cNvPr id="80" name="Google Shape;80;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2"/>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4"/>
        <p:cNvGrpSpPr/>
        <p:nvPr/>
      </p:nvGrpSpPr>
      <p:grpSpPr>
        <a:xfrm>
          <a:off x="0" y="0"/>
          <a:ext cx="0" cy="0"/>
          <a:chOff x="0" y="0"/>
          <a:chExt cx="0" cy="0"/>
        </a:xfrm>
      </p:grpSpPr>
      <p:sp>
        <p:nvSpPr>
          <p:cNvPr id="85" name="Google Shape;85;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0"/>
        <p:cNvGrpSpPr/>
        <p:nvPr/>
      </p:nvGrpSpPr>
      <p:grpSpPr>
        <a:xfrm>
          <a:off x="0" y="0"/>
          <a:ext cx="0" cy="0"/>
          <a:chOff x="0" y="0"/>
          <a:chExt cx="0" cy="0"/>
        </a:xfrm>
      </p:grpSpPr>
      <p:sp>
        <p:nvSpPr>
          <p:cNvPr id="91" name="Google Shape;91;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96"/>
        <p:cNvGrpSpPr/>
        <p:nvPr/>
      </p:nvGrpSpPr>
      <p:grpSpPr>
        <a:xfrm>
          <a:off x="0" y="0"/>
          <a:ext cx="0" cy="0"/>
          <a:chOff x="0" y="0"/>
          <a:chExt cx="0" cy="0"/>
        </a:xfrm>
      </p:grpSpPr>
      <p:sp>
        <p:nvSpPr>
          <p:cNvPr id="97" name="Google Shape;97;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2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3"/>
          <p:cNvPicPr preferRelativeResize="0"/>
          <p:nvPr/>
        </p:nvPicPr>
        <p:blipFill rotWithShape="1">
          <a:blip r:embed="rId12">
            <a:alphaModFix/>
          </a:blip>
          <a:srcRect/>
          <a:stretch/>
        </p:blipFill>
        <p:spPr>
          <a:xfrm>
            <a:off x="0" y="0"/>
            <a:ext cx="12192000" cy="6858000"/>
          </a:xfrm>
          <a:prstGeom prst="rect">
            <a:avLst/>
          </a:prstGeom>
          <a:noFill/>
          <a:ln>
            <a:noFill/>
          </a:ln>
        </p:spPr>
      </p:pic>
      <p:pic>
        <p:nvPicPr>
          <p:cNvPr id="11" name="Google Shape;11;p13"/>
          <p:cNvPicPr preferRelativeResize="0"/>
          <p:nvPr/>
        </p:nvPicPr>
        <p:blipFill rotWithShape="1">
          <a:blip r:embed="rId13">
            <a:alphaModFix/>
          </a:blip>
          <a:srcRect/>
          <a:stretch/>
        </p:blipFill>
        <p:spPr>
          <a:xfrm>
            <a:off x="10711512" y="330213"/>
            <a:ext cx="1284576" cy="637759"/>
          </a:xfrm>
          <a:prstGeom prst="rect">
            <a:avLst/>
          </a:prstGeom>
          <a:noFill/>
          <a:ln>
            <a:noFill/>
          </a:ln>
        </p:spPr>
      </p:pic>
      <p:sp>
        <p:nvSpPr>
          <p:cNvPr id="12" name="Google Shape;12;p13"/>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a:lstStyle/>
          <a:p>
            <a:endParaRPr lang="en-US"/>
          </a:p>
        </p:txBody>
      </p:sp>
      <p:pic>
        <p:nvPicPr>
          <p:cNvPr id="13" name="Google Shape;13;p13"/>
          <p:cNvPicPr preferRelativeResize="0"/>
          <p:nvPr/>
        </p:nvPicPr>
        <p:blipFill rotWithShape="1">
          <a:blip r:embed="rId14">
            <a:alphaModFix/>
          </a:blip>
          <a:srcRect/>
          <a:stretch/>
        </p:blipFill>
        <p:spPr>
          <a:xfrm>
            <a:off x="93317" y="0"/>
            <a:ext cx="1489765" cy="1386637"/>
          </a:xfrm>
          <a:prstGeom prst="rect">
            <a:avLst/>
          </a:prstGeom>
          <a:noFill/>
          <a:ln>
            <a:noFill/>
          </a:ln>
        </p:spPr>
      </p:pic>
      <p:sp>
        <p:nvSpPr>
          <p:cNvPr id="14" name="Google Shape;14;p13"/>
          <p:cNvSpPr/>
          <p:nvPr/>
        </p:nvSpPr>
        <p:spPr>
          <a:xfrm>
            <a:off x="10974189"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a:lstStyle/>
          <a:p>
            <a:endParaRPr lang="en-US"/>
          </a:p>
        </p:txBody>
      </p:sp>
      <p:sp>
        <p:nvSpPr>
          <p:cNvPr id="15" name="Google Shape;15;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 name="Google Shape;1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6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1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a:ea typeface="Calibri"/>
                <a:cs typeface="Calibri"/>
                <a:sym typeface="Calibri"/>
              </a:defRPr>
            </a:lvl1pPr>
            <a:lvl2pPr marL="0" marR="0" lvl="1" indent="0" algn="r" rtl="0">
              <a:spcBef>
                <a:spcPts val="0"/>
              </a:spcBef>
              <a:buNone/>
              <a:defRPr sz="1200" b="0" i="0" u="none" strike="noStrike" cap="none">
                <a:solidFill>
                  <a:schemeClr val="lt1"/>
                </a:solidFill>
                <a:latin typeface="Calibri"/>
                <a:ea typeface="Calibri"/>
                <a:cs typeface="Calibri"/>
                <a:sym typeface="Calibri"/>
              </a:defRPr>
            </a:lvl2pPr>
            <a:lvl3pPr marL="0" marR="0" lvl="2" indent="0" algn="r" rtl="0">
              <a:spcBef>
                <a:spcPts val="0"/>
              </a:spcBef>
              <a:buNone/>
              <a:defRPr sz="1200" b="0" i="0" u="none" strike="noStrike" cap="none">
                <a:solidFill>
                  <a:schemeClr val="lt1"/>
                </a:solidFill>
                <a:latin typeface="Calibri"/>
                <a:ea typeface="Calibri"/>
                <a:cs typeface="Calibri"/>
                <a:sym typeface="Calibri"/>
              </a:defRPr>
            </a:lvl3pPr>
            <a:lvl4pPr marL="0" marR="0" lvl="3" indent="0" algn="r" rtl="0">
              <a:spcBef>
                <a:spcPts val="0"/>
              </a:spcBef>
              <a:buNone/>
              <a:defRPr sz="1200" b="0" i="0" u="none" strike="noStrike" cap="none">
                <a:solidFill>
                  <a:schemeClr val="lt1"/>
                </a:solidFill>
                <a:latin typeface="Calibri"/>
                <a:ea typeface="Calibri"/>
                <a:cs typeface="Calibri"/>
                <a:sym typeface="Calibri"/>
              </a:defRPr>
            </a:lvl4pPr>
            <a:lvl5pPr marL="0" marR="0" lvl="4" indent="0" algn="r" rtl="0">
              <a:spcBef>
                <a:spcPts val="0"/>
              </a:spcBef>
              <a:buNone/>
              <a:defRPr sz="1200" b="0" i="0" u="none" strike="noStrike" cap="none">
                <a:solidFill>
                  <a:schemeClr val="lt1"/>
                </a:solidFill>
                <a:latin typeface="Calibri"/>
                <a:ea typeface="Calibri"/>
                <a:cs typeface="Calibri"/>
                <a:sym typeface="Calibri"/>
              </a:defRPr>
            </a:lvl5pPr>
            <a:lvl6pPr marL="0" marR="0" lvl="5" indent="0" algn="r" rtl="0">
              <a:spcBef>
                <a:spcPts val="0"/>
              </a:spcBef>
              <a:buNone/>
              <a:defRPr sz="1200" b="0" i="0" u="none" strike="noStrike" cap="none">
                <a:solidFill>
                  <a:schemeClr val="lt1"/>
                </a:solidFill>
                <a:latin typeface="Calibri"/>
                <a:ea typeface="Calibri"/>
                <a:cs typeface="Calibri"/>
                <a:sym typeface="Calibri"/>
              </a:defRPr>
            </a:lvl6pPr>
            <a:lvl7pPr marL="0" marR="0" lvl="6" indent="0" algn="r" rtl="0">
              <a:spcBef>
                <a:spcPts val="0"/>
              </a:spcBef>
              <a:buNone/>
              <a:defRPr sz="1200" b="0" i="0" u="none" strike="noStrike" cap="none">
                <a:solidFill>
                  <a:schemeClr val="lt1"/>
                </a:solidFill>
                <a:latin typeface="Calibri"/>
                <a:ea typeface="Calibri"/>
                <a:cs typeface="Calibri"/>
                <a:sym typeface="Calibri"/>
              </a:defRPr>
            </a:lvl7pPr>
            <a:lvl8pPr marL="0" marR="0" lvl="7" indent="0" algn="r" rtl="0">
              <a:spcBef>
                <a:spcPts val="0"/>
              </a:spcBef>
              <a:buNone/>
              <a:defRPr sz="1200" b="0" i="0" u="none" strike="noStrike" cap="none">
                <a:solidFill>
                  <a:schemeClr val="lt1"/>
                </a:solidFill>
                <a:latin typeface="Calibri"/>
                <a:ea typeface="Calibri"/>
                <a:cs typeface="Calibri"/>
                <a:sym typeface="Calibri"/>
              </a:defRPr>
            </a:lvl8pPr>
            <a:lvl9pPr marL="0" marR="0" lvl="8" indent="0" algn="r" rtl="0">
              <a:spcBef>
                <a:spcPts val="0"/>
              </a:spcBef>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hyperlink" Target="mailto:arwamac2016@gmail.com"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r>
              <a:rPr lang="en-US" b="1" i="0" dirty="0">
                <a:solidFill>
                  <a:srgbClr val="1869A6"/>
                </a:solidFill>
                <a:effectLst/>
                <a:latin typeface="Arial" panose="020B0604020202020204" pitchFamily="34" charset="0"/>
              </a:rPr>
              <a:t>HR Analytics Project</a:t>
            </a:r>
            <a:br>
              <a:rPr lang="en-US" b="0" i="0" dirty="0">
                <a:solidFill>
                  <a:srgbClr val="94A3B8"/>
                </a:solidFill>
                <a:effectLst/>
                <a:latin typeface="Arial" panose="020B0604020202020204" pitchFamily="34" charset="0"/>
              </a:rPr>
            </a:br>
            <a:endParaRPr dirty="0"/>
          </a:p>
        </p:txBody>
      </p:sp>
      <p:sp>
        <p:nvSpPr>
          <p:cNvPr id="161" name="Google Shape;161;p6"/>
          <p:cNvSpPr txBox="1">
            <a:spLocks noGrp="1"/>
          </p:cNvSpPr>
          <p:nvPr>
            <p:ph type="subTitle" idx="1"/>
          </p:nvPr>
        </p:nvSpPr>
        <p:spPr>
          <a:xfrm>
            <a:off x="1524000" y="2682082"/>
            <a:ext cx="9144000" cy="1655762"/>
          </a:xfrm>
          <a:prstGeom prst="rect">
            <a:avLst/>
          </a:prstGeom>
          <a:noFill/>
          <a:ln>
            <a:noFill/>
          </a:ln>
        </p:spPr>
        <p:txBody>
          <a:bodyPr spcFirstLastPara="1" wrap="square" lIns="91425" tIns="45700" rIns="91425" bIns="45700" anchor="t" anchorCtr="0">
            <a:normAutofit/>
          </a:bodyPr>
          <a:lstStyle/>
          <a:p>
            <a:pPr algn="ctr"/>
            <a:r>
              <a:rPr lang="en-US" b="1" i="0" dirty="0">
                <a:solidFill>
                  <a:srgbClr val="1869A6"/>
                </a:solidFill>
                <a:effectLst/>
                <a:latin typeface="Arial" panose="020B0604020202020204" pitchFamily="34" charset="0"/>
              </a:rPr>
              <a:t>HR Analytics Project</a:t>
            </a:r>
          </a:p>
          <a:p>
            <a:pPr algn="ctr"/>
            <a:r>
              <a:rPr lang="en-US" b="0" i="0" dirty="0">
                <a:solidFill>
                  <a:schemeClr val="tx1"/>
                </a:solidFill>
                <a:effectLst/>
                <a:latin typeface="Arial" panose="020B0604020202020204" pitchFamily="34" charset="0"/>
              </a:rPr>
              <a:t>Employee Performance &amp; Retention Analysis</a:t>
            </a:r>
          </a:p>
          <a:p>
            <a:pPr algn="ctr"/>
            <a:r>
              <a:rPr lang="ar-EG" b="0" i="0" dirty="0">
                <a:solidFill>
                  <a:schemeClr val="tx1"/>
                </a:solidFill>
                <a:effectLst/>
                <a:latin typeface="Arial" panose="020B0604020202020204" pitchFamily="34" charset="0"/>
              </a:rPr>
              <a:t>	</a:t>
            </a:r>
            <a:r>
              <a:rPr lang="en-US" b="0" i="0" dirty="0">
                <a:solidFill>
                  <a:schemeClr val="tx1"/>
                </a:solidFill>
                <a:effectLst/>
                <a:latin typeface="Arial" panose="020B0604020202020204" pitchFamily="34" charset="0"/>
              </a:rPr>
              <a:t>Digital Egypt Pioneers Initiative (DEPI) – Data Analysis Track</a:t>
            </a:r>
          </a:p>
          <a:p>
            <a:pPr marL="0" lvl="0" indent="0" algn="ctr" rtl="0">
              <a:lnSpc>
                <a:spcPct val="90000"/>
              </a:lnSpc>
              <a:spcBef>
                <a:spcPts val="0"/>
              </a:spcBef>
              <a:spcAft>
                <a:spcPts val="0"/>
              </a:spcAft>
              <a:buClr>
                <a:schemeClr val="dk1"/>
              </a:buClr>
              <a:buSzPts val="2400"/>
              <a:buNone/>
            </a:pPr>
            <a:endParaRPr dirty="0"/>
          </a:p>
        </p:txBody>
      </p:sp>
      <p:sp>
        <p:nvSpPr>
          <p:cNvPr id="162" name="Google Shape;16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November 2025</a:t>
            </a:r>
          </a:p>
        </p:txBody>
      </p:sp>
      <p:sp>
        <p:nvSpPr>
          <p:cNvPr id="164" name="Google Shape;16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pic>
        <p:nvPicPr>
          <p:cNvPr id="165" name="Google Shape;165;p6"/>
          <p:cNvPicPr preferRelativeResize="0"/>
          <p:nvPr/>
        </p:nvPicPr>
        <p:blipFill>
          <a:blip r:embed="rId3"/>
          <a:srcRect/>
          <a:stretch/>
        </p:blipFill>
        <p:spPr>
          <a:xfrm>
            <a:off x="9190825" y="6421576"/>
            <a:ext cx="903191" cy="234673"/>
          </a:xfrm>
          <a:prstGeom prst="rect">
            <a:avLst/>
          </a:prstGeom>
          <a:noFill/>
          <a:ln>
            <a:noFill/>
          </a:ln>
        </p:spPr>
      </p:pic>
      <p:sp>
        <p:nvSpPr>
          <p:cNvPr id="6" name="TextBox 5">
            <a:extLst>
              <a:ext uri="{FF2B5EF4-FFF2-40B4-BE49-F238E27FC236}">
                <a16:creationId xmlns:a16="http://schemas.microsoft.com/office/drawing/2014/main" id="{818F3A18-2AD0-8ED8-0644-B2A95259F463}"/>
              </a:ext>
            </a:extLst>
          </p:cNvPr>
          <p:cNvSpPr txBox="1"/>
          <p:nvPr/>
        </p:nvSpPr>
        <p:spPr>
          <a:xfrm>
            <a:off x="3917302" y="4207907"/>
            <a:ext cx="4357396" cy="1969770"/>
          </a:xfrm>
          <a:prstGeom prst="rect">
            <a:avLst/>
          </a:prstGeom>
          <a:noFill/>
        </p:spPr>
        <p:txBody>
          <a:bodyPr wrap="square" rtlCol="0">
            <a:spAutoFit/>
          </a:bodyPr>
          <a:lstStyle/>
          <a:p>
            <a:pPr algn="ctr"/>
            <a:r>
              <a:rPr lang="en-US" sz="1600" u="sng" dirty="0"/>
              <a:t>Team Members :</a:t>
            </a:r>
            <a:br>
              <a:rPr lang="en-US" sz="1600" u="sng" dirty="0"/>
            </a:br>
            <a:endParaRPr lang="en-US" sz="1600" u="sng" dirty="0"/>
          </a:p>
          <a:p>
            <a:pPr algn="ctr"/>
            <a:r>
              <a:rPr lang="en-US" sz="1800" b="0" i="0" u="none" strike="noStrike" baseline="0" dirty="0">
                <a:solidFill>
                  <a:srgbClr val="000000"/>
                </a:solidFill>
              </a:rPr>
              <a:t>Arwa Kassim  (Team Leader)</a:t>
            </a:r>
          </a:p>
          <a:p>
            <a:pPr algn="ctr"/>
            <a:r>
              <a:rPr lang="en-US" sz="1800" b="0" i="0" u="none" strike="noStrike" baseline="0" dirty="0">
                <a:solidFill>
                  <a:srgbClr val="000000"/>
                </a:solidFill>
              </a:rPr>
              <a:t>Mohamed Abdelbary</a:t>
            </a:r>
          </a:p>
          <a:p>
            <a:pPr algn="ctr"/>
            <a:r>
              <a:rPr lang="en-US" sz="1800" b="0" i="0" u="none" strike="noStrike" baseline="0" dirty="0">
                <a:solidFill>
                  <a:srgbClr val="000000"/>
                </a:solidFill>
              </a:rPr>
              <a:t>Ali Mamdouh</a:t>
            </a:r>
            <a:br>
              <a:rPr lang="en-US" sz="1800" b="0" i="0" u="none" strike="noStrike" baseline="0" dirty="0">
                <a:solidFill>
                  <a:srgbClr val="000000"/>
                </a:solidFill>
              </a:rPr>
            </a:br>
            <a:r>
              <a:rPr lang="en-US" sz="1800" b="0" i="0" u="none" strike="noStrike" baseline="0" dirty="0">
                <a:solidFill>
                  <a:srgbClr val="000000"/>
                </a:solidFill>
              </a:rPr>
              <a:t>Gehad Adel</a:t>
            </a:r>
            <a:br>
              <a:rPr lang="en-US" sz="1800" b="0" i="0" u="none" strike="noStrike" baseline="0" dirty="0">
                <a:solidFill>
                  <a:srgbClr val="000000"/>
                </a:solidFill>
              </a:rPr>
            </a:br>
            <a:r>
              <a:rPr lang="en-US" sz="1800" b="0" i="0" u="none" strike="noStrike" baseline="0" dirty="0">
                <a:solidFill>
                  <a:srgbClr val="000000"/>
                </a:solidFill>
              </a:rPr>
              <a:t>Rawan Adel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2" name="Google Shape;16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November 2025</a:t>
            </a:r>
          </a:p>
        </p:txBody>
      </p:sp>
      <p:sp>
        <p:nvSpPr>
          <p:cNvPr id="164" name="Google Shape;16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pic>
        <p:nvPicPr>
          <p:cNvPr id="165" name="Google Shape;165;p6"/>
          <p:cNvPicPr preferRelativeResize="0"/>
          <p:nvPr/>
        </p:nvPicPr>
        <p:blipFill>
          <a:blip r:embed="rId3"/>
          <a:srcRect/>
          <a:stretch/>
        </p:blipFill>
        <p:spPr>
          <a:xfrm>
            <a:off x="9190825" y="6421576"/>
            <a:ext cx="903191" cy="234673"/>
          </a:xfrm>
          <a:prstGeom prst="rect">
            <a:avLst/>
          </a:prstGeom>
          <a:noFill/>
          <a:ln>
            <a:noFill/>
          </a:ln>
        </p:spPr>
      </p:pic>
      <p:sp>
        <p:nvSpPr>
          <p:cNvPr id="7" name="TextBox 6">
            <a:extLst>
              <a:ext uri="{FF2B5EF4-FFF2-40B4-BE49-F238E27FC236}">
                <a16:creationId xmlns:a16="http://schemas.microsoft.com/office/drawing/2014/main" id="{704E10FD-91E6-D0F4-5F21-7057F144E494}"/>
              </a:ext>
            </a:extLst>
          </p:cNvPr>
          <p:cNvSpPr txBox="1"/>
          <p:nvPr/>
        </p:nvSpPr>
        <p:spPr>
          <a:xfrm>
            <a:off x="307910" y="1438569"/>
            <a:ext cx="10394302" cy="4279120"/>
          </a:xfrm>
          <a:prstGeom prst="rect">
            <a:avLst/>
          </a:prstGeom>
          <a:noFill/>
        </p:spPr>
        <p:txBody>
          <a:bodyPr wrap="square">
            <a:spAutoFit/>
          </a:bodyPr>
          <a:lstStyle/>
          <a:p>
            <a:pPr marL="457200" indent="-406400">
              <a:lnSpc>
                <a:spcPct val="90000"/>
              </a:lnSpc>
              <a:spcBef>
                <a:spcPts val="1000"/>
              </a:spcBef>
              <a:buClr>
                <a:schemeClr val="dk1"/>
              </a:buClr>
              <a:buSzPts val="2400"/>
            </a:pPr>
            <a:r>
              <a:rPr lang="en-US" sz="1600" b="1" u="sng" dirty="0">
                <a:solidFill>
                  <a:srgbClr val="1869A6"/>
                </a:solidFill>
                <a:latin typeface="Arial" panose="020B0604020202020204" pitchFamily="34" charset="0"/>
                <a:cs typeface="Calibri"/>
                <a:sym typeface="Calibri"/>
              </a:rPr>
              <a:t>Problem Description:</a:t>
            </a:r>
          </a:p>
          <a:p>
            <a:pPr marL="457200" indent="-406400">
              <a:lnSpc>
                <a:spcPct val="90000"/>
              </a:lnSpc>
              <a:spcBef>
                <a:spcPts val="1000"/>
              </a:spcBef>
              <a:buClr>
                <a:schemeClr val="dk1"/>
              </a:buClr>
              <a:buSzPts val="2400"/>
            </a:pPr>
            <a:r>
              <a:rPr lang="en-US" sz="1600" dirty="0">
                <a:solidFill>
                  <a:schemeClr val="tx1"/>
                </a:solidFill>
                <a:latin typeface="+mn-lt"/>
                <a:cs typeface="Calibri"/>
                <a:sym typeface="Calibri"/>
              </a:rPr>
              <a:t>Despite having a high average salary ($112.96K), the organization faces a critical retention challenge with an overall attrition rate of 16.12%. The primary issue is a lack of data-driven insight into which specific factors—such as overtime work (28% attrition rate), early tenure (0-3 years), or departmental risk (56.12% of attrition in Technology)—are driving employee turnover and burnout.</a:t>
            </a:r>
          </a:p>
          <a:p>
            <a:pPr marL="457200" indent="-406400">
              <a:lnSpc>
                <a:spcPct val="90000"/>
              </a:lnSpc>
              <a:spcBef>
                <a:spcPts val="1000"/>
              </a:spcBef>
              <a:buClr>
                <a:schemeClr val="dk1"/>
              </a:buClr>
              <a:buSzPts val="2400"/>
            </a:pPr>
            <a:r>
              <a:rPr lang="en-US" sz="1600" b="1" u="sng" dirty="0">
                <a:solidFill>
                  <a:srgbClr val="1869A6"/>
                </a:solidFill>
                <a:latin typeface="Arial" panose="020B0604020202020204" pitchFamily="34" charset="0"/>
                <a:cs typeface="Calibri"/>
                <a:sym typeface="Calibri"/>
              </a:rPr>
              <a:t>Proposed Solution:</a:t>
            </a:r>
          </a:p>
          <a:p>
            <a:pPr marL="457200" indent="-406400">
              <a:lnSpc>
                <a:spcPct val="90000"/>
              </a:lnSpc>
              <a:spcBef>
                <a:spcPts val="1000"/>
              </a:spcBef>
              <a:buClr>
                <a:schemeClr val="dk1"/>
              </a:buClr>
              <a:buSzPts val="2400"/>
            </a:pPr>
            <a:r>
              <a:rPr lang="en-US" sz="1600" dirty="0">
                <a:solidFill>
                  <a:schemeClr val="tx1"/>
                </a:solidFill>
                <a:latin typeface="+mn-lt"/>
                <a:cs typeface="Calibri"/>
                <a:sym typeface="Calibri"/>
              </a:rPr>
              <a:t>The proposed solution is the Human Resources Data Analysis Project, delivered as an interactive Power BI Dashboard. This solution moves beyond descriptive statistics to conduct diagnostic analysis, exploring key workforce indicators (KPIs) like attrition rate, performance rating (Avg: 3.47), and job satisfaction levels. This provides HR leadership with a centralized, visual tool for strategic decision-making.</a:t>
            </a:r>
          </a:p>
          <a:p>
            <a:pPr marL="457200" indent="-406400">
              <a:lnSpc>
                <a:spcPct val="90000"/>
              </a:lnSpc>
              <a:spcBef>
                <a:spcPts val="1000"/>
              </a:spcBef>
              <a:buClr>
                <a:schemeClr val="dk1"/>
              </a:buClr>
              <a:buSzPts val="2400"/>
            </a:pPr>
            <a:r>
              <a:rPr lang="en-US" sz="1600" b="1" u="sng" dirty="0">
                <a:solidFill>
                  <a:srgbClr val="1869A6"/>
                </a:solidFill>
                <a:latin typeface="Arial" panose="020B0604020202020204" pitchFamily="34" charset="0"/>
                <a:cs typeface="Calibri"/>
                <a:sym typeface="Calibri"/>
              </a:rPr>
              <a:t>Unique Value Proposition:</a:t>
            </a:r>
          </a:p>
          <a:p>
            <a:pPr marL="457200" indent="-406400">
              <a:lnSpc>
                <a:spcPct val="90000"/>
              </a:lnSpc>
              <a:spcBef>
                <a:spcPts val="1000"/>
              </a:spcBef>
              <a:buClr>
                <a:schemeClr val="dk1"/>
              </a:buClr>
              <a:buSzPts val="2400"/>
            </a:pPr>
            <a:r>
              <a:rPr lang="en-US" sz="1600" dirty="0">
                <a:solidFill>
                  <a:schemeClr val="tx1"/>
                </a:solidFill>
                <a:latin typeface="+mn-lt"/>
                <a:cs typeface="Calibri"/>
                <a:sym typeface="Calibri"/>
              </a:rPr>
              <a:t>Our project's unique value lies in its data integrity and predictive focus. The data was rigorously cleaned—removing 19 duplicates and imputing missing categorical values using Python (Pandas) mode—to ensure accuracy. The analysis pinpoints the non-obvious correlation that high salaries do not guarantee high performance or satisfaction, forcing a strategic shift toward non-financial drivers like work-life balance and targeted retention efforts for the high-risk Technology and early-tenure groups.</a:t>
            </a:r>
          </a:p>
        </p:txBody>
      </p:sp>
      <p:sp>
        <p:nvSpPr>
          <p:cNvPr id="11" name="TextBox 10">
            <a:extLst>
              <a:ext uri="{FF2B5EF4-FFF2-40B4-BE49-F238E27FC236}">
                <a16:creationId xmlns:a16="http://schemas.microsoft.com/office/drawing/2014/main" id="{E0E90897-E5D0-38BB-BD37-DECD9B4114BF}"/>
              </a:ext>
            </a:extLst>
          </p:cNvPr>
          <p:cNvSpPr txBox="1"/>
          <p:nvPr/>
        </p:nvSpPr>
        <p:spPr>
          <a:xfrm>
            <a:off x="2768860" y="795577"/>
            <a:ext cx="6097554" cy="424732"/>
          </a:xfrm>
          <a:prstGeom prst="rect">
            <a:avLst/>
          </a:prstGeom>
          <a:noFill/>
        </p:spPr>
        <p:txBody>
          <a:bodyPr wrap="square">
            <a:spAutoFit/>
          </a:bodyPr>
          <a:lstStyle/>
          <a:p>
            <a:pPr marL="457200" indent="-406400" algn="ctr">
              <a:lnSpc>
                <a:spcPct val="90000"/>
              </a:lnSpc>
              <a:spcBef>
                <a:spcPts val="1000"/>
              </a:spcBef>
              <a:buClr>
                <a:schemeClr val="dk1"/>
              </a:buClr>
              <a:buSzPts val="2400"/>
            </a:pPr>
            <a:r>
              <a:rPr lang="en-US" sz="2400" b="1" dirty="0">
                <a:solidFill>
                  <a:srgbClr val="1869A6"/>
                </a:solidFill>
                <a:latin typeface="Arial" panose="020B0604020202020204" pitchFamily="34" charset="0"/>
                <a:cs typeface="Calibri"/>
                <a:sym typeface="Calibri"/>
              </a:rPr>
              <a:t>Project Concept &amp; Value</a:t>
            </a:r>
          </a:p>
        </p:txBody>
      </p:sp>
    </p:spTree>
    <p:extLst>
      <p:ext uri="{BB962C8B-B14F-4D97-AF65-F5344CB8AC3E}">
        <p14:creationId xmlns:p14="http://schemas.microsoft.com/office/powerpoint/2010/main" val="173377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7"/>
          <p:cNvSpPr txBox="1">
            <a:spLocks noGrp="1"/>
          </p:cNvSpPr>
          <p:nvPr>
            <p:ph type="title"/>
          </p:nvPr>
        </p:nvSpPr>
        <p:spPr>
          <a:xfrm>
            <a:off x="80865" y="1285875"/>
            <a:ext cx="5657462" cy="484433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pPr>
            <a:r>
              <a:rPr lang="en-US" sz="1800" b="1" u="sng" dirty="0">
                <a:solidFill>
                  <a:srgbClr val="1869A6"/>
                </a:solidFill>
                <a:latin typeface="Arial" panose="020B0604020202020204" pitchFamily="34" charset="0"/>
                <a:sym typeface="Arial"/>
              </a:rPr>
              <a:t>Visual Representation (Key Interfaces):</a:t>
            </a:r>
            <a:br>
              <a:rPr lang="en-US" sz="1600" dirty="0">
                <a:latin typeface="+mn-lt"/>
                <a:cs typeface="Calibri" panose="020F0502020204030204" pitchFamily="34" charset="0"/>
              </a:rPr>
            </a:br>
            <a:r>
              <a:rPr lang="en-US" sz="1600" dirty="0">
                <a:solidFill>
                  <a:schemeClr val="tx1"/>
                </a:solidFill>
                <a:latin typeface="+mn-lt"/>
                <a:sym typeface="Arial"/>
              </a:rPr>
              <a:t>The solution is presented through a dynamic Power BI Dashboard interface. Key user interfaces include: 1. General Overview Dashboard (showing Avg Salary, Attrition Rate, and Overtime breakdown), 2. Department &amp; Demographic Analysis (comparing salary and tenure across Technology, Sales, and HR), and 3. Performance Analysis (scatter plots of Salary vs. Manager Rating and tenure volatility).</a:t>
            </a:r>
            <a:br>
              <a:rPr lang="en-US" sz="1600" dirty="0">
                <a:latin typeface="+mn-lt"/>
                <a:cs typeface="Calibri" panose="020F0502020204030204" pitchFamily="34" charset="0"/>
              </a:rPr>
            </a:br>
            <a:r>
              <a:rPr lang="en-US" sz="1800" b="1" u="sng" dirty="0">
                <a:solidFill>
                  <a:srgbClr val="1869A6"/>
                </a:solidFill>
                <a:latin typeface="Arial" panose="020B0604020202020204" pitchFamily="34" charset="0"/>
              </a:rPr>
              <a:t>User Journey / Usability Focus:</a:t>
            </a:r>
            <a:br>
              <a:rPr lang="en-US" sz="1600" dirty="0">
                <a:latin typeface="+mn-lt"/>
                <a:cs typeface="Calibri" panose="020F0502020204030204" pitchFamily="34" charset="0"/>
              </a:rPr>
            </a:br>
            <a:r>
              <a:rPr lang="en-US" sz="1600" dirty="0">
                <a:solidFill>
                  <a:schemeClr val="tx1"/>
                </a:solidFill>
                <a:latin typeface="+mn-lt"/>
              </a:rPr>
              <a:t>The dashboard is designed for maximum usability and data accessibility. The user journey is structured to enable efficient diagnostic analysis: 1. Global Filter: Use slicers (Age, Department, Ethnicity) on the left panel to instantly segment the data. 2. Diagnostic Drill-Down: Click on a high-risk department (e.g., Technology on the bar chart) to instantly filter all associated metrics (salary, attrition, tenure) across the entire interface. 3. Insight Generation: Managers can quickly confirm high-risk trends (e.g., the 28% attrition rate among overtime workers) and proceed to strategic action without delay.</a:t>
            </a:r>
            <a:br>
              <a:rPr lang="en-US" sz="1600" dirty="0">
                <a:solidFill>
                  <a:schemeClr val="tx1"/>
                </a:solidFill>
                <a:latin typeface="+mn-lt"/>
              </a:rPr>
            </a:br>
            <a:r>
              <a:rPr lang="en-US" sz="1800" b="1" u="sng" dirty="0">
                <a:solidFill>
                  <a:srgbClr val="1869A6"/>
                </a:solidFill>
                <a:latin typeface="Arial" panose="020B0604020202020204" pitchFamily="34" charset="0"/>
              </a:rPr>
              <a:t>Focus on Usability:</a:t>
            </a:r>
            <a:br>
              <a:rPr lang="en-US" sz="1600" dirty="0">
                <a:latin typeface="+mn-lt"/>
                <a:cs typeface="Calibri" panose="020F0502020204030204" pitchFamily="34" charset="0"/>
              </a:rPr>
            </a:br>
            <a:r>
              <a:rPr lang="en-US" sz="1600" dirty="0">
                <a:solidFill>
                  <a:schemeClr val="tx1"/>
                </a:solidFill>
                <a:latin typeface="+mn-lt"/>
              </a:rPr>
              <a:t>The interface prioritizes clear visual hierarchy, using color-coding (e.g., red for high attrition rates) and consistent chart types (bar charts for comparison, line charts for trends over time) to minimize cognitive load. This ensures that HR professionals, regardless of their technical background, can extract critical insights effectively.</a:t>
            </a:r>
            <a:endParaRPr sz="1600" dirty="0">
              <a:solidFill>
                <a:schemeClr val="tx1"/>
              </a:solidFill>
              <a:latin typeface="+mn-lt"/>
            </a:endParaRPr>
          </a:p>
        </p:txBody>
      </p:sp>
      <p:sp>
        <p:nvSpPr>
          <p:cNvPr id="171" name="Google Shape;17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600" b="0" i="0" u="none" strike="noStrike" kern="0" cap="none" spc="0" normalizeH="0" baseline="0" noProof="0" dirty="0">
                <a:ln>
                  <a:noFill/>
                </a:ln>
                <a:solidFill>
                  <a:srgbClr val="FFFFFF"/>
                </a:solidFill>
                <a:effectLst/>
                <a:uLnTx/>
                <a:uFillTx/>
                <a:latin typeface="Calibri"/>
                <a:cs typeface="Calibri"/>
                <a:sym typeface="Calibri"/>
              </a:rPr>
              <a:t>November 2025</a:t>
            </a:r>
          </a:p>
        </p:txBody>
      </p:sp>
      <p:sp>
        <p:nvSpPr>
          <p:cNvPr id="173" name="Google Shape;17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pic>
        <p:nvPicPr>
          <p:cNvPr id="175" name="Google Shape;175;p7"/>
          <p:cNvPicPr preferRelativeResize="0"/>
          <p:nvPr/>
        </p:nvPicPr>
        <p:blipFill>
          <a:blip r:embed="rId3"/>
          <a:srcRect/>
          <a:stretch/>
        </p:blipFill>
        <p:spPr>
          <a:xfrm>
            <a:off x="9190825" y="6421576"/>
            <a:ext cx="903191" cy="234673"/>
          </a:xfrm>
          <a:prstGeom prst="rect">
            <a:avLst/>
          </a:prstGeom>
          <a:noFill/>
          <a:ln>
            <a:noFill/>
          </a:ln>
        </p:spPr>
      </p:pic>
      <p:sp>
        <p:nvSpPr>
          <p:cNvPr id="2" name="Rectangle: Rounded Corners 1">
            <a:extLst>
              <a:ext uri="{FF2B5EF4-FFF2-40B4-BE49-F238E27FC236}">
                <a16:creationId xmlns:a16="http://schemas.microsoft.com/office/drawing/2014/main" id="{25388E40-3005-A5D2-0C50-15B257CC552C}"/>
              </a:ext>
            </a:extLst>
          </p:cNvPr>
          <p:cNvSpPr/>
          <p:nvPr/>
        </p:nvSpPr>
        <p:spPr>
          <a:xfrm>
            <a:off x="5856364" y="849086"/>
            <a:ext cx="4096138" cy="2579914"/>
          </a:xfrm>
          <a:prstGeom prst="roundRect">
            <a:avLst/>
          </a:prstGeom>
          <a:blipFill dpi="0" rotWithShape="1">
            <a:blip r:embed="rId4">
              <a:extLst>
                <a:ext uri="{28A0092B-C50C-407E-A947-70E740481C1C}">
                  <a14:useLocalDpi xmlns:a14="http://schemas.microsoft.com/office/drawing/2010/main" val="0"/>
                </a:ext>
              </a:extLst>
            </a:blip>
            <a:srcRect/>
            <a:stretch>
              <a:fillRect/>
            </a:stretch>
          </a:blipFill>
          <a:ln>
            <a:noFill/>
          </a:ln>
          <a:effectLst>
            <a:glow rad="1397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531C8718-F4DB-13EF-0DC3-940C5060B7C6}"/>
              </a:ext>
            </a:extLst>
          </p:cNvPr>
          <p:cNvSpPr/>
          <p:nvPr/>
        </p:nvSpPr>
        <p:spPr>
          <a:xfrm>
            <a:off x="7305869" y="3573625"/>
            <a:ext cx="4609323" cy="2435289"/>
          </a:xfrm>
          <a:prstGeom prst="roundRect">
            <a:avLst/>
          </a:prstGeom>
          <a:blipFill dpi="0" rotWithShape="1">
            <a:blip r:embed="rId5">
              <a:extLst>
                <a:ext uri="{28A0092B-C50C-407E-A947-70E740481C1C}">
                  <a14:useLocalDpi xmlns:a14="http://schemas.microsoft.com/office/drawing/2010/main" val="0"/>
                </a:ext>
              </a:extLst>
            </a:blip>
            <a:srcRect/>
            <a:stretch>
              <a:fillRect/>
            </a:stretch>
          </a:blipFill>
          <a:ln>
            <a:noFill/>
          </a:ln>
          <a:effectLst>
            <a:glow rad="1397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4ED7028-FDE7-B42D-BAF0-4472300B9EAD}"/>
              </a:ext>
            </a:extLst>
          </p:cNvPr>
          <p:cNvSpPr txBox="1"/>
          <p:nvPr/>
        </p:nvSpPr>
        <p:spPr>
          <a:xfrm>
            <a:off x="2689550" y="352042"/>
            <a:ext cx="6097554" cy="424732"/>
          </a:xfrm>
          <a:prstGeom prst="rect">
            <a:avLst/>
          </a:prstGeom>
          <a:noFill/>
        </p:spPr>
        <p:txBody>
          <a:bodyPr wrap="square">
            <a:spAutoFit/>
          </a:bodyPr>
          <a:lstStyle/>
          <a:p>
            <a:pPr marL="457200" indent="-406400" algn="ctr">
              <a:lnSpc>
                <a:spcPct val="90000"/>
              </a:lnSpc>
              <a:spcBef>
                <a:spcPts val="1000"/>
              </a:spcBef>
              <a:buClr>
                <a:schemeClr val="dk1"/>
              </a:buClr>
              <a:buSzPts val="2400"/>
            </a:pPr>
            <a:r>
              <a:rPr lang="en-US" sz="2400" b="1" dirty="0">
                <a:solidFill>
                  <a:srgbClr val="1869A6"/>
                </a:solidFill>
                <a:latin typeface="Arial" panose="020B0604020202020204" pitchFamily="34" charset="0"/>
                <a:cs typeface="Calibri"/>
              </a:rPr>
              <a:t>Project Wireframe</a:t>
            </a:r>
          </a:p>
        </p:txBody>
      </p:sp>
      <p:sp>
        <p:nvSpPr>
          <p:cNvPr id="8" name="Google Shape;185;p8">
            <a:extLst>
              <a:ext uri="{FF2B5EF4-FFF2-40B4-BE49-F238E27FC236}">
                <a16:creationId xmlns:a16="http://schemas.microsoft.com/office/drawing/2014/main" id="{3B774F43-CAC8-0566-A645-2811BF690012}"/>
              </a:ext>
            </a:extLst>
          </p:cNvPr>
          <p:cNvSpPr/>
          <p:nvPr/>
        </p:nvSpPr>
        <p:spPr>
          <a:xfrm rot="16200000">
            <a:off x="11220660" y="1615809"/>
            <a:ext cx="1942680" cy="1469097"/>
          </a:xfrm>
          <a:prstGeom prst="blockArc">
            <a:avLst>
              <a:gd name="adj1" fmla="val 10800000"/>
              <a:gd name="adj2" fmla="val 0"/>
              <a:gd name="adj3" fmla="val 25000"/>
            </a:avLst>
          </a:prstGeom>
          <a:solidFill>
            <a:srgbClr val="94B9D6"/>
          </a:solidFill>
          <a:ln w="12700" cap="flat" cmpd="sng">
            <a:solidFill>
              <a:srgbClr val="94B9D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5" name="Google Shape;185;p8"/>
          <p:cNvSpPr/>
          <p:nvPr/>
        </p:nvSpPr>
        <p:spPr>
          <a:xfrm rot="5400000">
            <a:off x="-971340" y="3255244"/>
            <a:ext cx="1942680" cy="1469097"/>
          </a:xfrm>
          <a:prstGeom prst="blockArc">
            <a:avLst>
              <a:gd name="adj1" fmla="val 10800000"/>
              <a:gd name="adj2" fmla="val 0"/>
              <a:gd name="adj3" fmla="val 25000"/>
            </a:avLst>
          </a:prstGeom>
          <a:solidFill>
            <a:srgbClr val="94B9D6"/>
          </a:solidFill>
          <a:ln w="12700" cap="flat" cmpd="sng">
            <a:solidFill>
              <a:srgbClr val="94B9D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 name="Rectangle: Rounded Corners 2">
            <a:extLst>
              <a:ext uri="{FF2B5EF4-FFF2-40B4-BE49-F238E27FC236}">
                <a16:creationId xmlns:a16="http://schemas.microsoft.com/office/drawing/2014/main" id="{61B75815-4A94-EC43-E3C2-25A2D33DFE4D}"/>
              </a:ext>
            </a:extLst>
          </p:cNvPr>
          <p:cNvSpPr/>
          <p:nvPr/>
        </p:nvSpPr>
        <p:spPr>
          <a:xfrm>
            <a:off x="6848669" y="2022410"/>
            <a:ext cx="4903949" cy="2813180"/>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a:ln>
            <a:noFill/>
          </a:ln>
          <a:effectLst>
            <a:glow rad="1397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0" name="Google Shape;180;p8"/>
          <p:cNvSpPr txBox="1">
            <a:spLocks noGrp="1"/>
          </p:cNvSpPr>
          <p:nvPr>
            <p:ph type="title"/>
          </p:nvPr>
        </p:nvSpPr>
        <p:spPr>
          <a:xfrm>
            <a:off x="155512" y="1026367"/>
            <a:ext cx="6693157" cy="5329983"/>
          </a:xfrm>
          <a:prstGeom prst="rect">
            <a:avLst/>
          </a:prstGeom>
          <a:noFill/>
          <a:ln>
            <a:noFill/>
          </a:ln>
        </p:spPr>
        <p:txBody>
          <a:bodyPr spcFirstLastPara="1" wrap="square" lIns="91425" tIns="45700" rIns="91425" bIns="45700" anchor="ctr" anchorCtr="0">
            <a:noAutofit/>
          </a:bodyPr>
          <a:lstStyle/>
          <a:p>
            <a:r>
              <a:rPr lang="en-US" sz="1600" b="1" u="sng" dirty="0">
                <a:solidFill>
                  <a:srgbClr val="1869A6"/>
                </a:solidFill>
                <a:latin typeface="Arial" panose="020B0604020202020204" pitchFamily="34" charset="0"/>
              </a:rPr>
              <a:t>Primary User Personas:</a:t>
            </a:r>
            <a:br>
              <a:rPr lang="en-US" sz="1600" b="0" i="0" dirty="0">
                <a:solidFill>
                  <a:schemeClr val="tx1"/>
                </a:solidFill>
                <a:effectLst/>
                <a:latin typeface="+mj-lt"/>
              </a:rPr>
            </a:br>
            <a:r>
              <a:rPr lang="en-US" sz="1400" dirty="0">
                <a:solidFill>
                  <a:schemeClr val="tx1"/>
                </a:solidFill>
                <a:latin typeface="+mn-lt"/>
              </a:rPr>
              <a:t>1. HR Executives and Leadership: Focused on strategic decision-making, budget allocation, and high-level organizational planning. </a:t>
            </a:r>
            <a:br>
              <a:rPr lang="en-US" sz="1400" dirty="0">
                <a:solidFill>
                  <a:schemeClr val="tx1"/>
                </a:solidFill>
                <a:latin typeface="+mn-lt"/>
              </a:rPr>
            </a:br>
            <a:br>
              <a:rPr lang="en-US" sz="1400" dirty="0">
                <a:solidFill>
                  <a:schemeClr val="tx1"/>
                </a:solidFill>
                <a:latin typeface="+mn-lt"/>
              </a:rPr>
            </a:br>
            <a:r>
              <a:rPr lang="en-US" sz="1400" dirty="0">
                <a:solidFill>
                  <a:schemeClr val="tx1"/>
                </a:solidFill>
                <a:latin typeface="+mn-lt"/>
              </a:rPr>
              <a:t>2. Department Managers: Focused on managing team workload, conducting fair performance reviews, and addressing local burnout issues.</a:t>
            </a:r>
            <a:br>
              <a:rPr lang="en-US" sz="1600" b="0" i="0" dirty="0">
                <a:solidFill>
                  <a:schemeClr val="tx1"/>
                </a:solidFill>
                <a:effectLst/>
                <a:latin typeface="+mj-lt"/>
              </a:rPr>
            </a:br>
            <a:r>
              <a:rPr lang="en-US" sz="1600" b="1" u="sng" dirty="0">
                <a:solidFill>
                  <a:srgbClr val="1869A6"/>
                </a:solidFill>
                <a:latin typeface="Arial" panose="020B0604020202020204" pitchFamily="34" charset="0"/>
              </a:rPr>
              <a:t>Key Features Addressing Needs:</a:t>
            </a:r>
            <a:br>
              <a:rPr lang="en-US" sz="1600" b="0" i="0" dirty="0">
                <a:solidFill>
                  <a:schemeClr val="tx1"/>
                </a:solidFill>
                <a:effectLst/>
                <a:latin typeface="+mj-lt"/>
              </a:rPr>
            </a:br>
            <a:r>
              <a:rPr lang="en-US" sz="1400" dirty="0">
                <a:solidFill>
                  <a:schemeClr val="tx1"/>
                </a:solidFill>
                <a:latin typeface="+mn-lt"/>
              </a:rPr>
              <a:t>1. High-Risk Group Identification: Provides clear visualization of primary retention risk factors (e.g., Early Tenure (0-3 years), Overtime, Low Salary Groups). </a:t>
            </a:r>
            <a:br>
              <a:rPr lang="en-US" sz="1400" dirty="0">
                <a:solidFill>
                  <a:schemeClr val="tx1"/>
                </a:solidFill>
                <a:latin typeface="+mn-lt"/>
              </a:rPr>
            </a:br>
            <a:br>
              <a:rPr lang="en-US" sz="1400" dirty="0">
                <a:solidFill>
                  <a:schemeClr val="tx1"/>
                </a:solidFill>
                <a:latin typeface="+mn-lt"/>
              </a:rPr>
            </a:br>
            <a:r>
              <a:rPr lang="en-US" sz="1400" dirty="0">
                <a:solidFill>
                  <a:schemeClr val="tx1"/>
                </a:solidFill>
                <a:latin typeface="+mn-lt"/>
              </a:rPr>
              <a:t>2. Departmental Comparative Analysis: Enables cross-department comparisons of average salary, average tenure, and attrition percentages (e.g., comparing Technology's 56.12% attrition risk vs. Sales' 38.82%). </a:t>
            </a:r>
            <a:br>
              <a:rPr lang="en-US" sz="1400" dirty="0">
                <a:solidFill>
                  <a:schemeClr val="tx1"/>
                </a:solidFill>
                <a:latin typeface="+mn-lt"/>
              </a:rPr>
            </a:br>
            <a:br>
              <a:rPr lang="en-US" sz="1400" dirty="0">
                <a:solidFill>
                  <a:schemeClr val="tx1"/>
                </a:solidFill>
                <a:latin typeface="+mn-lt"/>
              </a:rPr>
            </a:br>
            <a:r>
              <a:rPr lang="en-US" sz="1400" dirty="0">
                <a:solidFill>
                  <a:schemeClr val="tx1"/>
                </a:solidFill>
                <a:latin typeface="+mn-lt"/>
              </a:rPr>
              <a:t>3. Performance and Compensation Alignment Check: Visual correlation of Salary vs. Performance Rating, showing that high compensation does not always guarantee high output or satisfaction.</a:t>
            </a:r>
            <a:br>
              <a:rPr lang="en-US" sz="1400" dirty="0">
                <a:solidFill>
                  <a:schemeClr val="tx1"/>
                </a:solidFill>
                <a:latin typeface="+mn-lt"/>
              </a:rPr>
            </a:br>
            <a:r>
              <a:rPr lang="en-US" sz="1600" b="1" u="sng" dirty="0">
                <a:solidFill>
                  <a:srgbClr val="1869A6"/>
                </a:solidFill>
                <a:latin typeface="Arial" panose="020B0604020202020204" pitchFamily="34" charset="0"/>
              </a:rPr>
              <a:t>Feature-to-Solution Mapping:</a:t>
            </a:r>
            <a:br>
              <a:rPr lang="en-US" sz="1600" b="0" i="0" dirty="0">
                <a:solidFill>
                  <a:schemeClr val="tx1"/>
                </a:solidFill>
                <a:effectLst/>
                <a:latin typeface="+mj-lt"/>
              </a:rPr>
            </a:br>
            <a:r>
              <a:rPr lang="en-US" sz="1400" dirty="0">
                <a:solidFill>
                  <a:schemeClr val="tx1"/>
                </a:solidFill>
                <a:latin typeface="+mn-lt"/>
              </a:rPr>
              <a:t>The features directly support the objective of improving retention. For HR Executives: The platform enables the creation of organization-wide initiatives (e.g., implementing an enhanced Rewards &amp; Recognition Framework) by proving, for instance, that non-high performers report higher satisfaction, indicating misaligned incentives. For Department Managers: They can use the Overtime Analysis feature to immediately re-evaluate workload distribution or offer compensatory flexibility to mitigate the identified 28% attrition rate among overtime workers.</a:t>
            </a:r>
            <a:endParaRPr sz="1400" dirty="0">
              <a:solidFill>
                <a:schemeClr val="tx1"/>
              </a:solidFill>
              <a:latin typeface="+mn-lt"/>
            </a:endParaRPr>
          </a:p>
        </p:txBody>
      </p:sp>
      <p:sp>
        <p:nvSpPr>
          <p:cNvPr id="181" name="Google Shape;18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600" b="0" i="0" u="none" strike="noStrike" kern="0" cap="none" spc="0" normalizeH="0" baseline="0" noProof="0" dirty="0">
                <a:ln>
                  <a:noFill/>
                </a:ln>
                <a:solidFill>
                  <a:srgbClr val="FFFFFF"/>
                </a:solidFill>
                <a:effectLst/>
                <a:uLnTx/>
                <a:uFillTx/>
                <a:latin typeface="Calibri"/>
                <a:cs typeface="Calibri"/>
                <a:sym typeface="Calibri"/>
              </a:rPr>
              <a:t>November 2025</a:t>
            </a:r>
          </a:p>
        </p:txBody>
      </p:sp>
      <p:sp>
        <p:nvSpPr>
          <p:cNvPr id="183" name="Google Shape;18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pic>
        <p:nvPicPr>
          <p:cNvPr id="186" name="Google Shape;186;p8"/>
          <p:cNvPicPr preferRelativeResize="0"/>
          <p:nvPr/>
        </p:nvPicPr>
        <p:blipFill>
          <a:blip r:embed="rId4"/>
          <a:srcRect/>
          <a:stretch/>
        </p:blipFill>
        <p:spPr>
          <a:xfrm>
            <a:off x="9190825" y="6421576"/>
            <a:ext cx="903191" cy="234673"/>
          </a:xfrm>
          <a:prstGeom prst="rect">
            <a:avLst/>
          </a:prstGeom>
          <a:noFill/>
          <a:ln>
            <a:noFill/>
          </a:ln>
        </p:spPr>
      </p:pic>
      <p:sp>
        <p:nvSpPr>
          <p:cNvPr id="6" name="TextBox 5">
            <a:extLst>
              <a:ext uri="{FF2B5EF4-FFF2-40B4-BE49-F238E27FC236}">
                <a16:creationId xmlns:a16="http://schemas.microsoft.com/office/drawing/2014/main" id="{C44CFBFB-AB76-1140-6D72-487BF80EE59C}"/>
              </a:ext>
            </a:extLst>
          </p:cNvPr>
          <p:cNvSpPr txBox="1"/>
          <p:nvPr/>
        </p:nvSpPr>
        <p:spPr>
          <a:xfrm>
            <a:off x="2789853" y="517512"/>
            <a:ext cx="6102220" cy="424732"/>
          </a:xfrm>
          <a:prstGeom prst="rect">
            <a:avLst/>
          </a:prstGeom>
          <a:noFill/>
        </p:spPr>
        <p:txBody>
          <a:bodyPr wrap="square">
            <a:spAutoFit/>
          </a:bodyPr>
          <a:lstStyle/>
          <a:p>
            <a:pPr marL="457200" lvl="0" indent="-406400" algn="ctr">
              <a:lnSpc>
                <a:spcPct val="90000"/>
              </a:lnSpc>
              <a:spcBef>
                <a:spcPts val="1000"/>
              </a:spcBef>
              <a:buClr>
                <a:schemeClr val="dk1"/>
              </a:buClr>
              <a:buSzPts val="2400"/>
              <a:buFont typeface="Arial"/>
              <a:buNone/>
            </a:pPr>
            <a:r>
              <a:rPr lang="en-US" sz="2400" b="1" dirty="0">
                <a:solidFill>
                  <a:srgbClr val="1869A6"/>
                </a:solidFill>
                <a:latin typeface="Arial" panose="020B0604020202020204" pitchFamily="34" charset="0"/>
                <a:cs typeface="Calibri"/>
              </a:rPr>
              <a:t>End Users + Features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5" name="Google Shape;185;p8"/>
          <p:cNvSpPr/>
          <p:nvPr/>
        </p:nvSpPr>
        <p:spPr>
          <a:xfrm rot="16200000">
            <a:off x="11220660" y="1649421"/>
            <a:ext cx="1942680" cy="1469097"/>
          </a:xfrm>
          <a:prstGeom prst="blockArc">
            <a:avLst>
              <a:gd name="adj1" fmla="val 10800000"/>
              <a:gd name="adj2" fmla="val 0"/>
              <a:gd name="adj3" fmla="val 25000"/>
            </a:avLst>
          </a:prstGeom>
          <a:solidFill>
            <a:srgbClr val="94B9D6"/>
          </a:solidFill>
          <a:ln w="12700" cap="flat" cmpd="sng">
            <a:solidFill>
              <a:srgbClr val="94B9D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80" name="Google Shape;180;p8"/>
          <p:cNvSpPr txBox="1">
            <a:spLocks noGrp="1"/>
          </p:cNvSpPr>
          <p:nvPr>
            <p:ph type="title"/>
          </p:nvPr>
        </p:nvSpPr>
        <p:spPr>
          <a:xfrm>
            <a:off x="838200" y="942244"/>
            <a:ext cx="10714652" cy="5329983"/>
          </a:xfrm>
          <a:prstGeom prst="rect">
            <a:avLst/>
          </a:prstGeom>
          <a:noFill/>
          <a:ln>
            <a:noFill/>
          </a:ln>
        </p:spPr>
        <p:txBody>
          <a:bodyPr spcFirstLastPara="1" wrap="square" lIns="91425" tIns="45700" rIns="91425" bIns="45700" anchor="ctr" anchorCtr="0">
            <a:noAutofit/>
          </a:bodyPr>
          <a:lstStyle/>
          <a:p>
            <a:pPr>
              <a:lnSpc>
                <a:spcPct val="150000"/>
              </a:lnSpc>
            </a:pPr>
            <a:r>
              <a:rPr lang="en-US" sz="1600" b="1" u="sng" dirty="0">
                <a:solidFill>
                  <a:srgbClr val="1869A6"/>
                </a:solidFill>
                <a:latin typeface="Arial" panose="020B0604020202020204" pitchFamily="34" charset="0"/>
              </a:rPr>
              <a:t>Database Architecture &amp; Entities:</a:t>
            </a:r>
            <a:br>
              <a:rPr lang="en-US" sz="1400" dirty="0">
                <a:solidFill>
                  <a:schemeClr val="tx1"/>
                </a:solidFill>
                <a:latin typeface="+mn-lt"/>
              </a:rPr>
            </a:br>
            <a:r>
              <a:rPr lang="en-US" sz="1400" dirty="0">
                <a:solidFill>
                  <a:schemeClr val="tx1"/>
                </a:solidFill>
                <a:latin typeface="+mn-lt"/>
              </a:rPr>
              <a:t>The dataset uses a simple, denormalized structure (relational principles applied within a single model) appropriate for the defined scope. The key entities focus on employee attributes: Employee Demographics (Age, Gender, Ethnicity), Job Data (Department, Years at Company, Job Role), Financial Data (Salary), and Behavioral Metrics (Overtime, Performance Rating, Attrition).</a:t>
            </a:r>
            <a:br>
              <a:rPr lang="en-US" sz="1400" dirty="0">
                <a:solidFill>
                  <a:schemeClr val="tx1"/>
                </a:solidFill>
                <a:latin typeface="+mn-lt"/>
              </a:rPr>
            </a:br>
            <a:r>
              <a:rPr lang="en-US" sz="1600" b="1" u="sng" dirty="0">
                <a:solidFill>
                  <a:srgbClr val="1869A6"/>
                </a:solidFill>
                <a:latin typeface="Arial" panose="020B0604020202020204" pitchFamily="34" charset="0"/>
              </a:rPr>
              <a:t>Data Shape and Features:</a:t>
            </a:r>
            <a:br>
              <a:rPr lang="en-US" sz="1400" dirty="0">
                <a:solidFill>
                  <a:schemeClr val="tx1"/>
                </a:solidFill>
                <a:latin typeface="+mn-lt"/>
              </a:rPr>
            </a:br>
            <a:r>
              <a:rPr lang="en-US" sz="1400" dirty="0">
                <a:solidFill>
                  <a:schemeClr val="tx1"/>
                </a:solidFill>
                <a:latin typeface="+mn-lt"/>
              </a:rPr>
              <a:t>The initial data comprised multiple Excel files (SatisfiedLevel.xlsx and Employee (E.xlsx)) which were consolidated into a single analytical model representing approximately 1.47K employees. Target Variable: The dataset is unbalanced, with a lower volume of 'Yes' attrition cases (16.12%) compared to 'No' (83.88%). Key Features include categorical data (Education Level, Department) and numerical data (Salary, Years at Company, Distance From Home).</a:t>
            </a:r>
            <a:br>
              <a:rPr lang="en-US" sz="1400" dirty="0">
                <a:solidFill>
                  <a:schemeClr val="tx1"/>
                </a:solidFill>
                <a:latin typeface="+mn-lt"/>
              </a:rPr>
            </a:br>
            <a:r>
              <a:rPr lang="en-US" sz="1600" b="1" u="sng" dirty="0">
                <a:solidFill>
                  <a:srgbClr val="1869A6"/>
                </a:solidFill>
                <a:latin typeface="Arial" panose="020B0604020202020204" pitchFamily="34" charset="0"/>
              </a:rPr>
              <a:t>Data Cleaning and Flow:</a:t>
            </a:r>
            <a:br>
              <a:rPr lang="en-US" sz="1400" dirty="0">
                <a:solidFill>
                  <a:schemeClr val="tx1"/>
                </a:solidFill>
                <a:latin typeface="+mn-lt"/>
              </a:rPr>
            </a:br>
            <a:r>
              <a:rPr lang="en-US" sz="1400" dirty="0">
                <a:solidFill>
                  <a:schemeClr val="tx1"/>
                </a:solidFill>
                <a:latin typeface="+mn-lt"/>
              </a:rPr>
              <a:t>Data Source: Raw, uncleaned dataset from Kaggle (abdelrahmangamal236/</a:t>
            </a:r>
            <a:r>
              <a:rPr lang="en-US" sz="1400" dirty="0" err="1">
                <a:solidFill>
                  <a:schemeClr val="tx1"/>
                </a:solidFill>
                <a:latin typeface="+mn-lt"/>
              </a:rPr>
              <a:t>hr</a:t>
            </a:r>
            <a:r>
              <a:rPr lang="en-US" sz="1400" dirty="0">
                <a:solidFill>
                  <a:schemeClr val="tx1"/>
                </a:solidFill>
                <a:latin typeface="+mn-lt"/>
              </a:rPr>
              <a:t>-datasets-not-cleaned). Cleaning Process: Performed using Python (Pandas) scripts: 1. Duplicate Removal: 19 duplicate records were identified and removed. 2. Missing Data Imputation: Missing values in key categorical columns ('Gender', 'Department', 'State') were imputed using the Mode (most frequent value) to minimize bias and preserve distribution.</a:t>
            </a:r>
          </a:p>
        </p:txBody>
      </p:sp>
      <p:sp>
        <p:nvSpPr>
          <p:cNvPr id="181" name="Google Shape;18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600" b="0" i="0" u="none" strike="noStrike" kern="0" cap="none" spc="0" normalizeH="0" baseline="0" noProof="0" dirty="0">
                <a:ln>
                  <a:noFill/>
                </a:ln>
                <a:solidFill>
                  <a:srgbClr val="FFFFFF"/>
                </a:solidFill>
                <a:effectLst/>
                <a:uLnTx/>
                <a:uFillTx/>
                <a:latin typeface="Calibri"/>
                <a:cs typeface="Calibri"/>
                <a:sym typeface="Calibri"/>
              </a:rPr>
              <a:t>November 2025</a:t>
            </a:r>
          </a:p>
        </p:txBody>
      </p:sp>
      <p:sp>
        <p:nvSpPr>
          <p:cNvPr id="183" name="Google Shape;18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4" name="TextBox 3">
            <a:extLst>
              <a:ext uri="{FF2B5EF4-FFF2-40B4-BE49-F238E27FC236}">
                <a16:creationId xmlns:a16="http://schemas.microsoft.com/office/drawing/2014/main" id="{00C35B9C-6930-4273-31E9-C4E3BF54FCA0}"/>
              </a:ext>
            </a:extLst>
          </p:cNvPr>
          <p:cNvSpPr txBox="1"/>
          <p:nvPr/>
        </p:nvSpPr>
        <p:spPr>
          <a:xfrm>
            <a:off x="2789853" y="517512"/>
            <a:ext cx="6102220" cy="424732"/>
          </a:xfrm>
          <a:prstGeom prst="rect">
            <a:avLst/>
          </a:prstGeom>
          <a:noFill/>
        </p:spPr>
        <p:txBody>
          <a:bodyPr wrap="square">
            <a:spAutoFit/>
          </a:bodyPr>
          <a:lstStyle/>
          <a:p>
            <a:pPr marL="457200" lvl="0" indent="-406400" algn="ctr">
              <a:lnSpc>
                <a:spcPct val="90000"/>
              </a:lnSpc>
              <a:spcBef>
                <a:spcPts val="1000"/>
              </a:spcBef>
              <a:buClr>
                <a:schemeClr val="dk1"/>
              </a:buClr>
              <a:buSzPts val="2400"/>
              <a:buFont typeface="Arial"/>
              <a:buNone/>
            </a:pPr>
            <a:r>
              <a:rPr lang="en-US" sz="2400" b="1" dirty="0">
                <a:solidFill>
                  <a:srgbClr val="1869A6"/>
                </a:solidFill>
                <a:latin typeface="Arial" panose="020B0604020202020204" pitchFamily="34" charset="0"/>
                <a:cs typeface="Calibri"/>
              </a:rPr>
              <a:t>Data Structure</a:t>
            </a:r>
          </a:p>
        </p:txBody>
      </p:sp>
      <p:pic>
        <p:nvPicPr>
          <p:cNvPr id="2" name="Google Shape;186;p8">
            <a:extLst>
              <a:ext uri="{FF2B5EF4-FFF2-40B4-BE49-F238E27FC236}">
                <a16:creationId xmlns:a16="http://schemas.microsoft.com/office/drawing/2014/main" id="{C17F85DB-83E2-4524-992F-9010A93B7466}"/>
              </a:ext>
            </a:extLst>
          </p:cNvPr>
          <p:cNvPicPr preferRelativeResize="0"/>
          <p:nvPr/>
        </p:nvPicPr>
        <p:blipFill>
          <a:blip r:embed="rId3"/>
          <a:srcRect/>
          <a:stretch/>
        </p:blipFill>
        <p:spPr>
          <a:xfrm>
            <a:off x="9190825" y="6421576"/>
            <a:ext cx="903191" cy="234673"/>
          </a:xfrm>
          <a:prstGeom prst="rect">
            <a:avLst/>
          </a:prstGeom>
          <a:noFill/>
          <a:ln>
            <a:noFill/>
          </a:ln>
        </p:spPr>
      </p:pic>
    </p:spTree>
    <p:extLst>
      <p:ext uri="{BB962C8B-B14F-4D97-AF65-F5344CB8AC3E}">
        <p14:creationId xmlns:p14="http://schemas.microsoft.com/office/powerpoint/2010/main" val="2399483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5" name="Google Shape;185;p8"/>
          <p:cNvSpPr/>
          <p:nvPr/>
        </p:nvSpPr>
        <p:spPr>
          <a:xfrm rot="5400000">
            <a:off x="-971341" y="4650462"/>
            <a:ext cx="1942680" cy="1469097"/>
          </a:xfrm>
          <a:prstGeom prst="blockArc">
            <a:avLst>
              <a:gd name="adj1" fmla="val 10800000"/>
              <a:gd name="adj2" fmla="val 0"/>
              <a:gd name="adj3" fmla="val 25000"/>
            </a:avLst>
          </a:prstGeom>
          <a:solidFill>
            <a:srgbClr val="94B9D6"/>
          </a:solidFill>
          <a:ln w="12700" cap="flat" cmpd="sng">
            <a:solidFill>
              <a:srgbClr val="94B9D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80" name="Google Shape;180;p8"/>
          <p:cNvSpPr txBox="1">
            <a:spLocks noGrp="1"/>
          </p:cNvSpPr>
          <p:nvPr>
            <p:ph type="title"/>
          </p:nvPr>
        </p:nvSpPr>
        <p:spPr>
          <a:xfrm>
            <a:off x="763555" y="1412629"/>
            <a:ext cx="10414518" cy="4012311"/>
          </a:xfrm>
          <a:prstGeom prst="rect">
            <a:avLst/>
          </a:prstGeom>
          <a:noFill/>
          <a:ln>
            <a:noFill/>
          </a:ln>
        </p:spPr>
        <p:txBody>
          <a:bodyPr spcFirstLastPara="1" wrap="square" lIns="91425" tIns="45700" rIns="91425" bIns="45700" anchor="ctr" anchorCtr="0">
            <a:noAutofit/>
          </a:bodyPr>
          <a:lstStyle/>
          <a:p>
            <a:pPr algn="ctr">
              <a:lnSpc>
                <a:spcPct val="150000"/>
              </a:lnSpc>
            </a:pPr>
            <a:r>
              <a:rPr lang="en-US" sz="1600" b="1" u="sng" dirty="0">
                <a:solidFill>
                  <a:srgbClr val="1869A6"/>
                </a:solidFill>
                <a:latin typeface="Arial" panose="020B0604020202020204" pitchFamily="34" charset="0"/>
              </a:rPr>
              <a:t>Main Programming Language:</a:t>
            </a:r>
            <a:br>
              <a:rPr lang="en-US" sz="1600" b="1" u="sng" dirty="0">
                <a:solidFill>
                  <a:srgbClr val="1869A6"/>
                </a:solidFill>
                <a:latin typeface="Arial" panose="020B0604020202020204" pitchFamily="34" charset="0"/>
              </a:rPr>
            </a:br>
            <a:r>
              <a:rPr lang="en-US" sz="1400" dirty="0">
                <a:solidFill>
                  <a:schemeClr val="tx1"/>
                </a:solidFill>
                <a:latin typeface="+mn-lt"/>
              </a:rPr>
              <a:t>Python (Core language for data preparation and processing).</a:t>
            </a:r>
            <a:br>
              <a:rPr lang="en-US" sz="1400" dirty="0">
                <a:solidFill>
                  <a:schemeClr val="tx1"/>
                </a:solidFill>
                <a:latin typeface="+mn-lt"/>
              </a:rPr>
            </a:br>
            <a:r>
              <a:rPr lang="en-US" sz="1600" b="1" u="sng" dirty="0">
                <a:solidFill>
                  <a:srgbClr val="1869A6"/>
                </a:solidFill>
                <a:latin typeface="Arial" panose="020B0604020202020204" pitchFamily="34" charset="0"/>
              </a:rPr>
              <a:t>Frameworks and Libraries:</a:t>
            </a:r>
            <a:br>
              <a:rPr lang="en-US" sz="1600" b="1" u="sng" dirty="0">
                <a:solidFill>
                  <a:srgbClr val="1869A6"/>
                </a:solidFill>
                <a:latin typeface="Arial" panose="020B0604020202020204" pitchFamily="34" charset="0"/>
              </a:rPr>
            </a:br>
            <a:r>
              <a:rPr lang="en-US" sz="1400" dirty="0">
                <a:solidFill>
                  <a:schemeClr val="tx1"/>
                </a:solidFill>
                <a:latin typeface="+mn-lt"/>
              </a:rPr>
              <a:t>Pandas: Utilized extensively for the entire Data Cleaning and Wrangling phase, including file loading, merging, duplicate removal, and imputation techniques (mode imputation).</a:t>
            </a:r>
            <a:br>
              <a:rPr lang="en-US" sz="1600" b="1" u="sng" dirty="0">
                <a:solidFill>
                  <a:srgbClr val="1869A6"/>
                </a:solidFill>
                <a:latin typeface="Arial" panose="020B0604020202020204" pitchFamily="34" charset="0"/>
              </a:rPr>
            </a:br>
            <a:r>
              <a:rPr lang="en-US" sz="1600" b="1" u="sng" dirty="0">
                <a:solidFill>
                  <a:srgbClr val="1869A6"/>
                </a:solidFill>
                <a:latin typeface="Arial" panose="020B0604020202020204" pitchFamily="34" charset="0"/>
              </a:rPr>
              <a:t>Data Visualization Tool:</a:t>
            </a:r>
            <a:br>
              <a:rPr lang="en-US" sz="1600" b="1" u="sng" dirty="0">
                <a:solidFill>
                  <a:srgbClr val="1869A6"/>
                </a:solidFill>
                <a:latin typeface="Arial" panose="020B0604020202020204" pitchFamily="34" charset="0"/>
              </a:rPr>
            </a:br>
            <a:r>
              <a:rPr lang="en-US" sz="1400" dirty="0">
                <a:solidFill>
                  <a:schemeClr val="tx1"/>
                </a:solidFill>
                <a:latin typeface="+mn-lt"/>
              </a:rPr>
              <a:t>Power BI: The primary tool for data modeling, creating relationships between tables, defining custom KPIs (using DAX), and developing the final interactive dashboards that visualize the findings.</a:t>
            </a:r>
            <a:br>
              <a:rPr lang="en-US" sz="1400" dirty="0">
                <a:solidFill>
                  <a:schemeClr val="tx1"/>
                </a:solidFill>
                <a:latin typeface="+mn-lt"/>
              </a:rPr>
            </a:br>
            <a:r>
              <a:rPr lang="en-US" sz="1600" b="1" u="sng" dirty="0">
                <a:solidFill>
                  <a:srgbClr val="1869A6"/>
                </a:solidFill>
                <a:latin typeface="Arial" panose="020B0604020202020204" pitchFamily="34" charset="0"/>
              </a:rPr>
              <a:t>Supporting Technologies:</a:t>
            </a:r>
            <a:br>
              <a:rPr lang="en-US" sz="1600" b="1" u="sng" dirty="0">
                <a:solidFill>
                  <a:srgbClr val="1869A6"/>
                </a:solidFill>
                <a:latin typeface="Arial" panose="020B0604020202020204" pitchFamily="34" charset="0"/>
              </a:rPr>
            </a:br>
            <a:r>
              <a:rPr lang="en-US" sz="1400" dirty="0">
                <a:solidFill>
                  <a:schemeClr val="tx1"/>
                </a:solidFill>
                <a:latin typeface="+mn-lt"/>
              </a:rPr>
              <a:t>Kaggle: Used for direct data ingestion from the Kaggle source repository.</a:t>
            </a:r>
            <a:br>
              <a:rPr lang="en-US" sz="1400" dirty="0">
                <a:solidFill>
                  <a:schemeClr val="tx1"/>
                </a:solidFill>
                <a:latin typeface="+mn-lt"/>
              </a:rPr>
            </a:br>
            <a:r>
              <a:rPr lang="en-US" sz="1400" dirty="0">
                <a:solidFill>
                  <a:schemeClr val="tx1"/>
                </a:solidFill>
                <a:latin typeface="+mn-lt"/>
              </a:rPr>
              <a:t>Google Colab Notebook: Provided the accessible development environment for executing the Python data cleaning and preprocessing steps.</a:t>
            </a:r>
          </a:p>
        </p:txBody>
      </p:sp>
      <p:sp>
        <p:nvSpPr>
          <p:cNvPr id="181" name="Google Shape;18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600" b="0" i="0" u="none" strike="noStrike" kern="0" cap="none" spc="0" normalizeH="0" baseline="0" noProof="0" dirty="0">
                <a:ln>
                  <a:noFill/>
                </a:ln>
                <a:solidFill>
                  <a:srgbClr val="FFFFFF"/>
                </a:solidFill>
                <a:effectLst/>
                <a:uLnTx/>
                <a:uFillTx/>
                <a:latin typeface="Calibri"/>
                <a:cs typeface="Calibri"/>
                <a:sym typeface="Calibri"/>
              </a:rPr>
              <a:t>November 2025</a:t>
            </a:r>
          </a:p>
        </p:txBody>
      </p:sp>
      <p:sp>
        <p:nvSpPr>
          <p:cNvPr id="183" name="Google Shape;18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4" name="TextBox 3">
            <a:extLst>
              <a:ext uri="{FF2B5EF4-FFF2-40B4-BE49-F238E27FC236}">
                <a16:creationId xmlns:a16="http://schemas.microsoft.com/office/drawing/2014/main" id="{00C35B9C-6930-4273-31E9-C4E3BF54FCA0}"/>
              </a:ext>
            </a:extLst>
          </p:cNvPr>
          <p:cNvSpPr txBox="1"/>
          <p:nvPr/>
        </p:nvSpPr>
        <p:spPr>
          <a:xfrm>
            <a:off x="2789853" y="517512"/>
            <a:ext cx="6102220" cy="424732"/>
          </a:xfrm>
          <a:prstGeom prst="rect">
            <a:avLst/>
          </a:prstGeom>
          <a:noFill/>
        </p:spPr>
        <p:txBody>
          <a:bodyPr wrap="square">
            <a:spAutoFit/>
          </a:bodyPr>
          <a:lstStyle/>
          <a:p>
            <a:pPr marL="457200" lvl="0" indent="-406400" algn="ctr">
              <a:lnSpc>
                <a:spcPct val="90000"/>
              </a:lnSpc>
              <a:spcBef>
                <a:spcPts val="1000"/>
              </a:spcBef>
              <a:buClr>
                <a:schemeClr val="dk1"/>
              </a:buClr>
              <a:buSzPts val="2400"/>
              <a:buFont typeface="Arial"/>
              <a:buNone/>
            </a:pPr>
            <a:r>
              <a:rPr lang="en-US" sz="2400" b="1" dirty="0">
                <a:solidFill>
                  <a:srgbClr val="1869A6"/>
                </a:solidFill>
                <a:latin typeface="Arial" panose="020B0604020202020204" pitchFamily="34" charset="0"/>
                <a:cs typeface="Calibri"/>
              </a:rPr>
              <a:t>Programming Languages + Frameworks</a:t>
            </a:r>
          </a:p>
        </p:txBody>
      </p:sp>
      <p:pic>
        <p:nvPicPr>
          <p:cNvPr id="2" name="Google Shape;186;p8">
            <a:extLst>
              <a:ext uri="{FF2B5EF4-FFF2-40B4-BE49-F238E27FC236}">
                <a16:creationId xmlns:a16="http://schemas.microsoft.com/office/drawing/2014/main" id="{87FB920E-898F-9F1E-1B57-79D93A24A2A6}"/>
              </a:ext>
            </a:extLst>
          </p:cNvPr>
          <p:cNvPicPr preferRelativeResize="0"/>
          <p:nvPr/>
        </p:nvPicPr>
        <p:blipFill>
          <a:blip r:embed="rId3"/>
          <a:srcRect/>
          <a:stretch/>
        </p:blipFill>
        <p:spPr>
          <a:xfrm>
            <a:off x="9190825" y="6421576"/>
            <a:ext cx="903191" cy="234673"/>
          </a:xfrm>
          <a:prstGeom prst="rect">
            <a:avLst/>
          </a:prstGeom>
          <a:noFill/>
          <a:ln>
            <a:noFill/>
          </a:ln>
        </p:spPr>
      </p:pic>
    </p:spTree>
    <p:extLst>
      <p:ext uri="{BB962C8B-B14F-4D97-AF65-F5344CB8AC3E}">
        <p14:creationId xmlns:p14="http://schemas.microsoft.com/office/powerpoint/2010/main" val="360309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5" name="Google Shape;185;p8"/>
          <p:cNvSpPr/>
          <p:nvPr/>
        </p:nvSpPr>
        <p:spPr>
          <a:xfrm rot="16200000">
            <a:off x="11220660" y="1372924"/>
            <a:ext cx="1942680" cy="1469097"/>
          </a:xfrm>
          <a:prstGeom prst="blockArc">
            <a:avLst>
              <a:gd name="adj1" fmla="val 10800000"/>
              <a:gd name="adj2" fmla="val 0"/>
              <a:gd name="adj3" fmla="val 25000"/>
            </a:avLst>
          </a:prstGeom>
          <a:solidFill>
            <a:srgbClr val="94B9D6"/>
          </a:solidFill>
          <a:ln w="12700" cap="flat" cmpd="sng">
            <a:solidFill>
              <a:srgbClr val="94B9D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80" name="Google Shape;180;p8"/>
          <p:cNvSpPr txBox="1">
            <a:spLocks noGrp="1"/>
          </p:cNvSpPr>
          <p:nvPr>
            <p:ph type="title"/>
          </p:nvPr>
        </p:nvSpPr>
        <p:spPr>
          <a:xfrm>
            <a:off x="261258" y="2313992"/>
            <a:ext cx="11473542" cy="2864498"/>
          </a:xfrm>
          <a:prstGeom prst="rect">
            <a:avLst/>
          </a:prstGeom>
          <a:noFill/>
          <a:ln>
            <a:noFill/>
          </a:ln>
        </p:spPr>
        <p:txBody>
          <a:bodyPr spcFirstLastPara="1" wrap="square" lIns="91425" tIns="45700" rIns="91425" bIns="45700" anchor="ctr" anchorCtr="0">
            <a:noAutofit/>
          </a:bodyPr>
          <a:lstStyle/>
          <a:p>
            <a:pPr algn="ctr">
              <a:lnSpc>
                <a:spcPct val="150000"/>
              </a:lnSpc>
            </a:pPr>
            <a:r>
              <a:rPr lang="en-US" sz="1600" b="1" u="sng" dirty="0">
                <a:solidFill>
                  <a:srgbClr val="1869A6"/>
                </a:solidFill>
                <a:latin typeface="Arial" panose="020B0604020202020204" pitchFamily="34" charset="0"/>
              </a:rPr>
              <a:t>Current State Overview:</a:t>
            </a:r>
            <a:br>
              <a:rPr lang="en-US" sz="1400" dirty="0">
                <a:solidFill>
                  <a:schemeClr val="tx1"/>
                </a:solidFill>
                <a:latin typeface="+mn-lt"/>
              </a:rPr>
            </a:br>
            <a:r>
              <a:rPr lang="en-US" sz="1400" dirty="0">
                <a:solidFill>
                  <a:schemeClr val="tx1"/>
                </a:solidFill>
                <a:latin typeface="+mn-lt"/>
              </a:rPr>
              <a:t>The Power BI Dashboard is currently in a production-ready state, having been deployed for final review. It serves as the primary deliverable, featuring four interactive views (General, Department/Demographics, Performance, Education, details) and integrated slicers that allow HR users to dynamically cross-filter all 1.47K employee records based on Age, Department, Ethnicity, and Gender.</a:t>
            </a:r>
            <a:br>
              <a:rPr lang="en-US" sz="1400" dirty="0">
                <a:solidFill>
                  <a:schemeClr val="tx1"/>
                </a:solidFill>
                <a:latin typeface="+mn-lt"/>
              </a:rPr>
            </a:br>
            <a:r>
              <a:rPr lang="en-US" sz="1600" b="1" u="sng" dirty="0">
                <a:solidFill>
                  <a:srgbClr val="1869A6"/>
                </a:solidFill>
                <a:latin typeface="Arial" panose="020B0604020202020204" pitchFamily="34" charset="0"/>
              </a:rPr>
              <a:t>Key Testing Phases:</a:t>
            </a:r>
            <a:br>
              <a:rPr lang="en-US" sz="1400" dirty="0">
                <a:solidFill>
                  <a:schemeClr val="tx1"/>
                </a:solidFill>
                <a:latin typeface="+mn-lt"/>
              </a:rPr>
            </a:br>
            <a:r>
              <a:rPr lang="en-US" sz="1400" dirty="0">
                <a:solidFill>
                  <a:schemeClr val="tx1"/>
                </a:solidFill>
                <a:latin typeface="+mn-lt"/>
              </a:rPr>
              <a:t>1. Data Integrity Testing (Python/Pandas): Verification that the 19 duplicate entries were successfully removed and that Mode Imputation for missing categorical data (Gender, Department, State) was executed correctly, as detailed in the Data Wrangling Report. </a:t>
            </a:r>
            <a:br>
              <a:rPr lang="en-US" sz="1400" dirty="0">
                <a:solidFill>
                  <a:schemeClr val="tx1"/>
                </a:solidFill>
                <a:latin typeface="+mn-lt"/>
              </a:rPr>
            </a:br>
            <a:r>
              <a:rPr lang="en-US" sz="1400" dirty="0">
                <a:solidFill>
                  <a:schemeClr val="tx1"/>
                </a:solidFill>
                <a:latin typeface="+mn-lt"/>
              </a:rPr>
              <a:t>2. Model Validation: Confirmed data relationships within the Power BI model are accurate for KPI calculation. This included testing the accuracy of the overall 16.12% Attrition Rate and the departmental attrition risk percentages (e.g., Technology at 56.12%). </a:t>
            </a:r>
            <a:br>
              <a:rPr lang="en-US" sz="1400" dirty="0">
                <a:solidFill>
                  <a:schemeClr val="tx1"/>
                </a:solidFill>
                <a:latin typeface="+mn-lt"/>
              </a:rPr>
            </a:br>
            <a:r>
              <a:rPr lang="en-US" sz="1400" dirty="0">
                <a:solidFill>
                  <a:schemeClr val="tx1"/>
                </a:solidFill>
                <a:latin typeface="+mn-lt"/>
              </a:rPr>
              <a:t>3. User Acceptance Testing (UAT): Performed by project peers to ensure the dashboard’s usability, responsiveness, and intuitive navigation, confirming that the tool effectively supports the planned decision-making process.</a:t>
            </a:r>
            <a:br>
              <a:rPr lang="en-US" sz="1400" dirty="0">
                <a:solidFill>
                  <a:schemeClr val="tx1"/>
                </a:solidFill>
                <a:latin typeface="+mn-lt"/>
              </a:rPr>
            </a:br>
            <a:r>
              <a:rPr lang="en-US" sz="1600" b="1" u="sng" dirty="0">
                <a:solidFill>
                  <a:srgbClr val="1869A6"/>
                </a:solidFill>
                <a:latin typeface="Arial" panose="020B0604020202020204" pitchFamily="34" charset="0"/>
              </a:rPr>
              <a:t>Quality Assurance:</a:t>
            </a:r>
            <a:br>
              <a:rPr lang="en-US" sz="1400" dirty="0">
                <a:solidFill>
                  <a:schemeClr val="tx1"/>
                </a:solidFill>
                <a:latin typeface="+mn-lt"/>
              </a:rPr>
            </a:br>
            <a:r>
              <a:rPr lang="en-US" sz="1400" dirty="0">
                <a:solidFill>
                  <a:schemeClr val="tx1"/>
                </a:solidFill>
                <a:latin typeface="+mn-lt"/>
              </a:rPr>
              <a:t>Quality Assurance confirmed the reliability of the core analytical findings, such as the clear demonstration that overtime workers experience a 28% attrition rate compared to 10% for non-overtime workers. No critical errors were identified, validating the data cleaning and transformation steps performed in Python.</a:t>
            </a:r>
          </a:p>
        </p:txBody>
      </p:sp>
      <p:sp>
        <p:nvSpPr>
          <p:cNvPr id="181" name="Google Shape;18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600" b="0" i="0" u="none" strike="noStrike" kern="0" cap="none" spc="0" normalizeH="0" baseline="0" noProof="0" dirty="0">
                <a:ln>
                  <a:noFill/>
                </a:ln>
                <a:solidFill>
                  <a:srgbClr val="FFFFFF"/>
                </a:solidFill>
                <a:effectLst/>
                <a:uLnTx/>
                <a:uFillTx/>
                <a:latin typeface="Calibri"/>
                <a:cs typeface="Calibri"/>
                <a:sym typeface="Calibri"/>
              </a:rPr>
              <a:t>November 2025</a:t>
            </a:r>
          </a:p>
        </p:txBody>
      </p:sp>
      <p:sp>
        <p:nvSpPr>
          <p:cNvPr id="183" name="Google Shape;18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4" name="TextBox 3">
            <a:extLst>
              <a:ext uri="{FF2B5EF4-FFF2-40B4-BE49-F238E27FC236}">
                <a16:creationId xmlns:a16="http://schemas.microsoft.com/office/drawing/2014/main" id="{00C35B9C-6930-4273-31E9-C4E3BF54FCA0}"/>
              </a:ext>
            </a:extLst>
          </p:cNvPr>
          <p:cNvSpPr txBox="1"/>
          <p:nvPr/>
        </p:nvSpPr>
        <p:spPr>
          <a:xfrm>
            <a:off x="2789853" y="517512"/>
            <a:ext cx="6102220" cy="424732"/>
          </a:xfrm>
          <a:prstGeom prst="rect">
            <a:avLst/>
          </a:prstGeom>
          <a:noFill/>
        </p:spPr>
        <p:txBody>
          <a:bodyPr wrap="square">
            <a:spAutoFit/>
          </a:bodyPr>
          <a:lstStyle/>
          <a:p>
            <a:pPr marL="457200" lvl="0" indent="-406400" algn="ctr">
              <a:lnSpc>
                <a:spcPct val="90000"/>
              </a:lnSpc>
              <a:spcBef>
                <a:spcPts val="1000"/>
              </a:spcBef>
              <a:buClr>
                <a:schemeClr val="dk1"/>
              </a:buClr>
              <a:buSzPts val="2400"/>
              <a:buFont typeface="Arial"/>
              <a:buNone/>
            </a:pPr>
            <a:r>
              <a:rPr lang="en-US" sz="2400" b="1" dirty="0">
                <a:solidFill>
                  <a:srgbClr val="1869A6"/>
                </a:solidFill>
                <a:latin typeface="Arial" panose="020B0604020202020204" pitchFamily="34" charset="0"/>
                <a:cs typeface="Calibri"/>
              </a:rPr>
              <a:t>Live Application + Testing</a:t>
            </a:r>
          </a:p>
        </p:txBody>
      </p:sp>
      <p:pic>
        <p:nvPicPr>
          <p:cNvPr id="2" name="Google Shape;186;p8">
            <a:extLst>
              <a:ext uri="{FF2B5EF4-FFF2-40B4-BE49-F238E27FC236}">
                <a16:creationId xmlns:a16="http://schemas.microsoft.com/office/drawing/2014/main" id="{FB90E467-CE46-C127-7052-5FF6C9B54907}"/>
              </a:ext>
            </a:extLst>
          </p:cNvPr>
          <p:cNvPicPr preferRelativeResize="0"/>
          <p:nvPr/>
        </p:nvPicPr>
        <p:blipFill>
          <a:blip r:embed="rId3"/>
          <a:srcRect/>
          <a:stretch/>
        </p:blipFill>
        <p:spPr>
          <a:xfrm>
            <a:off x="9190825" y="6421576"/>
            <a:ext cx="903191" cy="234673"/>
          </a:xfrm>
          <a:prstGeom prst="rect">
            <a:avLst/>
          </a:prstGeom>
          <a:noFill/>
          <a:ln>
            <a:noFill/>
          </a:ln>
        </p:spPr>
      </p:pic>
    </p:spTree>
    <p:extLst>
      <p:ext uri="{BB962C8B-B14F-4D97-AF65-F5344CB8AC3E}">
        <p14:creationId xmlns:p14="http://schemas.microsoft.com/office/powerpoint/2010/main" val="1273439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5" name="Google Shape;185;p8"/>
          <p:cNvSpPr/>
          <p:nvPr/>
        </p:nvSpPr>
        <p:spPr>
          <a:xfrm rot="5400000">
            <a:off x="-971341" y="1579443"/>
            <a:ext cx="1942680" cy="1469097"/>
          </a:xfrm>
          <a:prstGeom prst="blockArc">
            <a:avLst>
              <a:gd name="adj1" fmla="val 10800000"/>
              <a:gd name="adj2" fmla="val 0"/>
              <a:gd name="adj3" fmla="val 25000"/>
            </a:avLst>
          </a:prstGeom>
          <a:solidFill>
            <a:srgbClr val="94B9D6"/>
          </a:solidFill>
          <a:ln w="12700" cap="flat" cmpd="sng">
            <a:solidFill>
              <a:srgbClr val="94B9D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Calibri"/>
              <a:ea typeface="Calibri"/>
              <a:cs typeface="Calibri"/>
              <a:sym typeface="Calibri"/>
            </a:endParaRPr>
          </a:p>
        </p:txBody>
      </p:sp>
      <p:sp>
        <p:nvSpPr>
          <p:cNvPr id="180" name="Google Shape;180;p8"/>
          <p:cNvSpPr txBox="1">
            <a:spLocks noGrp="1"/>
          </p:cNvSpPr>
          <p:nvPr>
            <p:ph type="title"/>
          </p:nvPr>
        </p:nvSpPr>
        <p:spPr>
          <a:xfrm>
            <a:off x="359229" y="2140420"/>
            <a:ext cx="11473542" cy="2864498"/>
          </a:xfrm>
          <a:prstGeom prst="rect">
            <a:avLst/>
          </a:prstGeom>
          <a:noFill/>
          <a:ln>
            <a:noFill/>
          </a:ln>
        </p:spPr>
        <p:txBody>
          <a:bodyPr spcFirstLastPara="1" wrap="square" lIns="91425" tIns="45700" rIns="91425" bIns="45700" anchor="ctr" anchorCtr="0">
            <a:noAutofit/>
          </a:bodyPr>
          <a:lstStyle/>
          <a:p>
            <a:pPr algn="ctr">
              <a:lnSpc>
                <a:spcPct val="150000"/>
              </a:lnSpc>
            </a:pPr>
            <a:r>
              <a:rPr lang="en-US" sz="1600" b="1" u="sng" dirty="0">
                <a:solidFill>
                  <a:srgbClr val="1869A6"/>
                </a:solidFill>
                <a:latin typeface="Arial" panose="020B0604020202020204" pitchFamily="34" charset="0"/>
              </a:rPr>
              <a:t>Reports and Documentation:</a:t>
            </a:r>
            <a:br>
              <a:rPr lang="en-US" sz="1400" dirty="0">
                <a:solidFill>
                  <a:schemeClr val="tx1"/>
                </a:solidFill>
                <a:latin typeface="+mn-lt"/>
              </a:rPr>
            </a:br>
            <a:r>
              <a:rPr lang="en-US" sz="1400" dirty="0">
                <a:solidFill>
                  <a:schemeClr val="tx1"/>
                </a:solidFill>
                <a:latin typeface="+mn-lt"/>
              </a:rPr>
              <a:t>1. Data Wrangling Report: Technical documentation outlining the data collection, assessment (duplicates, missing values), cleaning, and imputation procedures executed in Python.</a:t>
            </a:r>
            <a:br>
              <a:rPr lang="en-US" sz="1400" dirty="0">
                <a:solidFill>
                  <a:schemeClr val="tx1"/>
                </a:solidFill>
                <a:latin typeface="+mn-lt"/>
              </a:rPr>
            </a:br>
            <a:r>
              <a:rPr lang="en-US" sz="1400" dirty="0">
                <a:solidFill>
                  <a:schemeClr val="tx1"/>
                </a:solidFill>
                <a:latin typeface="+mn-lt"/>
              </a:rPr>
              <a:t> 2. Business Insights Report: The strategic findings document, providing actionable recommendations (e.g., reducing overtime, strengthening early-tenure retention) based on the KPI analysis. </a:t>
            </a:r>
            <a:br>
              <a:rPr lang="en-US" sz="1400" dirty="0">
                <a:solidFill>
                  <a:schemeClr val="tx1"/>
                </a:solidFill>
                <a:latin typeface="+mn-lt"/>
              </a:rPr>
            </a:br>
            <a:r>
              <a:rPr lang="en-US" sz="1600" b="1" u="sng" dirty="0">
                <a:solidFill>
                  <a:srgbClr val="1869A6"/>
                </a:solidFill>
                <a:latin typeface="Arial" panose="020B0604020202020204" pitchFamily="34" charset="0"/>
              </a:rPr>
              <a:t>Timeline for Deliverables:</a:t>
            </a:r>
            <a:br>
              <a:rPr lang="en-US" sz="1400" dirty="0">
                <a:solidFill>
                  <a:schemeClr val="tx1"/>
                </a:solidFill>
                <a:latin typeface="+mn-lt"/>
              </a:rPr>
            </a:br>
            <a:br>
              <a:rPr lang="en-US" sz="1400" dirty="0">
                <a:solidFill>
                  <a:schemeClr val="tx1"/>
                </a:solidFill>
                <a:latin typeface="+mn-lt"/>
              </a:rPr>
            </a:br>
            <a:br>
              <a:rPr lang="en-US" sz="1400" dirty="0">
                <a:solidFill>
                  <a:schemeClr val="tx1"/>
                </a:solidFill>
                <a:latin typeface="+mn-lt"/>
              </a:rPr>
            </a:br>
            <a:br>
              <a:rPr lang="en-US" sz="1400" dirty="0">
                <a:solidFill>
                  <a:schemeClr val="tx1"/>
                </a:solidFill>
                <a:latin typeface="+mn-lt"/>
              </a:rPr>
            </a:br>
            <a:br>
              <a:rPr lang="en-US" sz="1400" dirty="0">
                <a:solidFill>
                  <a:schemeClr val="tx1"/>
                </a:solidFill>
                <a:latin typeface="+mn-lt"/>
              </a:rPr>
            </a:br>
            <a:br>
              <a:rPr lang="en-US" sz="1400" dirty="0">
                <a:solidFill>
                  <a:schemeClr val="tx1"/>
                </a:solidFill>
                <a:latin typeface="+mn-lt"/>
              </a:rPr>
            </a:br>
            <a:r>
              <a:rPr lang="en-US" sz="1600" b="1" u="sng" dirty="0">
                <a:solidFill>
                  <a:srgbClr val="1869A6"/>
                </a:solidFill>
                <a:latin typeface="Arial" panose="020B0604020202020204" pitchFamily="34" charset="0"/>
              </a:rPr>
              <a:t>Other Final Products:</a:t>
            </a:r>
            <a:br>
              <a:rPr lang="en-US" sz="1400" dirty="0">
                <a:solidFill>
                  <a:schemeClr val="tx1"/>
                </a:solidFill>
                <a:latin typeface="+mn-lt"/>
              </a:rPr>
            </a:br>
            <a:r>
              <a:rPr lang="en-US" sz="1400" dirty="0">
                <a:solidFill>
                  <a:schemeClr val="tx1"/>
                </a:solidFill>
                <a:latin typeface="+mn-lt"/>
              </a:rPr>
              <a:t>1. Interactive Power BI Dashboard: The primary functional deliverable, visualizing all performance, attrition, and demographic KPIs. </a:t>
            </a:r>
            <a:br>
              <a:rPr lang="en-US" sz="1400" dirty="0">
                <a:solidFill>
                  <a:schemeClr val="tx1"/>
                </a:solidFill>
                <a:latin typeface="+mn-lt"/>
              </a:rPr>
            </a:br>
            <a:r>
              <a:rPr lang="en-US" sz="1400" dirty="0">
                <a:solidFill>
                  <a:schemeClr val="tx1"/>
                </a:solidFill>
                <a:latin typeface="+mn-lt"/>
              </a:rPr>
              <a:t>2. Source Code Repository: The Python script/notebook used for data cleaning and transformation (ETL process).</a:t>
            </a:r>
          </a:p>
        </p:txBody>
      </p:sp>
      <p:sp>
        <p:nvSpPr>
          <p:cNvPr id="181" name="Google Shape;18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600" b="0" i="0" u="none" strike="noStrike" kern="0" cap="none" spc="0" normalizeH="0" baseline="0" noProof="0" dirty="0">
                <a:ln>
                  <a:noFill/>
                </a:ln>
                <a:solidFill>
                  <a:srgbClr val="FFFFFF"/>
                </a:solidFill>
                <a:effectLst/>
                <a:uLnTx/>
                <a:uFillTx/>
                <a:latin typeface="Calibri"/>
                <a:cs typeface="Calibri"/>
                <a:sym typeface="Calibri"/>
              </a:rPr>
              <a:t>November 2025</a:t>
            </a:r>
          </a:p>
        </p:txBody>
      </p:sp>
      <p:sp>
        <p:nvSpPr>
          <p:cNvPr id="183" name="Google Shape;18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4" name="TextBox 3">
            <a:extLst>
              <a:ext uri="{FF2B5EF4-FFF2-40B4-BE49-F238E27FC236}">
                <a16:creationId xmlns:a16="http://schemas.microsoft.com/office/drawing/2014/main" id="{00C35B9C-6930-4273-31E9-C4E3BF54FCA0}"/>
              </a:ext>
            </a:extLst>
          </p:cNvPr>
          <p:cNvSpPr txBox="1"/>
          <p:nvPr/>
        </p:nvSpPr>
        <p:spPr>
          <a:xfrm>
            <a:off x="2789853" y="517512"/>
            <a:ext cx="6102220" cy="424732"/>
          </a:xfrm>
          <a:prstGeom prst="rect">
            <a:avLst/>
          </a:prstGeom>
          <a:noFill/>
        </p:spPr>
        <p:txBody>
          <a:bodyPr wrap="square">
            <a:spAutoFit/>
          </a:bodyPr>
          <a:lstStyle/>
          <a:p>
            <a:pPr marL="457200" lvl="0" indent="-406400" algn="ctr">
              <a:lnSpc>
                <a:spcPct val="90000"/>
              </a:lnSpc>
              <a:spcBef>
                <a:spcPts val="1000"/>
              </a:spcBef>
              <a:buClr>
                <a:schemeClr val="dk1"/>
              </a:buClr>
              <a:buSzPts val="2400"/>
              <a:buFont typeface="Arial"/>
              <a:buNone/>
            </a:pPr>
            <a:r>
              <a:rPr lang="en-US" sz="2400" b="1" dirty="0">
                <a:solidFill>
                  <a:srgbClr val="1869A6"/>
                </a:solidFill>
                <a:latin typeface="Arial" panose="020B0604020202020204" pitchFamily="34" charset="0"/>
                <a:cs typeface="Calibri"/>
              </a:rPr>
              <a:t>Deliverables</a:t>
            </a:r>
          </a:p>
        </p:txBody>
      </p:sp>
      <p:graphicFrame>
        <p:nvGraphicFramePr>
          <p:cNvPr id="2" name="Diagram 1">
            <a:extLst>
              <a:ext uri="{FF2B5EF4-FFF2-40B4-BE49-F238E27FC236}">
                <a16:creationId xmlns:a16="http://schemas.microsoft.com/office/drawing/2014/main" id="{101FBF24-8645-C595-65CA-145B7E5DCBB9}"/>
              </a:ext>
            </a:extLst>
          </p:cNvPr>
          <p:cNvGraphicFramePr/>
          <p:nvPr>
            <p:extLst>
              <p:ext uri="{D42A27DB-BD31-4B8C-83A1-F6EECF244321}">
                <p14:modId xmlns:p14="http://schemas.microsoft.com/office/powerpoint/2010/main" val="706387048"/>
              </p:ext>
            </p:extLst>
          </p:nvPr>
        </p:nvGraphicFramePr>
        <p:xfrm>
          <a:off x="1761931" y="3643605"/>
          <a:ext cx="8668137" cy="17214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Google Shape;186;p8">
            <a:extLst>
              <a:ext uri="{FF2B5EF4-FFF2-40B4-BE49-F238E27FC236}">
                <a16:creationId xmlns:a16="http://schemas.microsoft.com/office/drawing/2014/main" id="{CE550F37-76ED-EFDD-992A-6179FFE74538}"/>
              </a:ext>
            </a:extLst>
          </p:cNvPr>
          <p:cNvPicPr preferRelativeResize="0"/>
          <p:nvPr/>
        </p:nvPicPr>
        <p:blipFill>
          <a:blip r:embed="rId8"/>
          <a:srcRect/>
          <a:stretch/>
        </p:blipFill>
        <p:spPr>
          <a:xfrm>
            <a:off x="9190825" y="6421576"/>
            <a:ext cx="903191" cy="234673"/>
          </a:xfrm>
          <a:prstGeom prst="rect">
            <a:avLst/>
          </a:prstGeom>
          <a:noFill/>
          <a:ln>
            <a:noFill/>
          </a:ln>
        </p:spPr>
      </p:pic>
    </p:spTree>
    <p:extLst>
      <p:ext uri="{BB962C8B-B14F-4D97-AF65-F5344CB8AC3E}">
        <p14:creationId xmlns:p14="http://schemas.microsoft.com/office/powerpoint/2010/main" val="3551531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5" name="Google Shape;185;p8"/>
          <p:cNvSpPr/>
          <p:nvPr/>
        </p:nvSpPr>
        <p:spPr>
          <a:xfrm rot="16200000">
            <a:off x="11220660" y="2465851"/>
            <a:ext cx="1942680" cy="1469097"/>
          </a:xfrm>
          <a:prstGeom prst="blockArc">
            <a:avLst>
              <a:gd name="adj1" fmla="val 10800000"/>
              <a:gd name="adj2" fmla="val 0"/>
              <a:gd name="adj3" fmla="val 25000"/>
            </a:avLst>
          </a:prstGeom>
          <a:solidFill>
            <a:srgbClr val="94B9D6"/>
          </a:solidFill>
          <a:ln w="12700" cap="flat" cmpd="sng">
            <a:solidFill>
              <a:srgbClr val="94B9D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Calibri"/>
              <a:ea typeface="Calibri"/>
              <a:cs typeface="Calibri"/>
              <a:sym typeface="Calibri"/>
            </a:endParaRPr>
          </a:p>
        </p:txBody>
      </p:sp>
      <p:sp>
        <p:nvSpPr>
          <p:cNvPr id="181" name="Google Shape;18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600" b="0" i="0" u="none" strike="noStrike" kern="0" cap="none" spc="0" normalizeH="0" baseline="0" noProof="0" dirty="0">
                <a:ln>
                  <a:noFill/>
                </a:ln>
                <a:solidFill>
                  <a:srgbClr val="FFFFFF"/>
                </a:solidFill>
                <a:effectLst/>
                <a:uLnTx/>
                <a:uFillTx/>
                <a:latin typeface="Calibri"/>
                <a:cs typeface="Calibri"/>
                <a:sym typeface="Calibri"/>
              </a:rPr>
              <a:t>November 2025</a:t>
            </a:r>
          </a:p>
        </p:txBody>
      </p:sp>
      <p:sp>
        <p:nvSpPr>
          <p:cNvPr id="183" name="Google Shape;18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4" name="TextBox 3">
            <a:extLst>
              <a:ext uri="{FF2B5EF4-FFF2-40B4-BE49-F238E27FC236}">
                <a16:creationId xmlns:a16="http://schemas.microsoft.com/office/drawing/2014/main" id="{00C35B9C-6930-4273-31E9-C4E3BF54FCA0}"/>
              </a:ext>
            </a:extLst>
          </p:cNvPr>
          <p:cNvSpPr txBox="1"/>
          <p:nvPr/>
        </p:nvSpPr>
        <p:spPr>
          <a:xfrm>
            <a:off x="2570584" y="491843"/>
            <a:ext cx="6102220" cy="424732"/>
          </a:xfrm>
          <a:prstGeom prst="rect">
            <a:avLst/>
          </a:prstGeom>
          <a:noFill/>
        </p:spPr>
        <p:txBody>
          <a:bodyPr wrap="square">
            <a:spAutoFit/>
          </a:bodyPr>
          <a:lstStyle/>
          <a:p>
            <a:pPr marL="457200" lvl="0" indent="-406400" algn="ctr">
              <a:lnSpc>
                <a:spcPct val="90000"/>
              </a:lnSpc>
              <a:spcBef>
                <a:spcPts val="1000"/>
              </a:spcBef>
              <a:buClr>
                <a:schemeClr val="dk1"/>
              </a:buClr>
              <a:buSzPts val="2400"/>
              <a:buFont typeface="Arial"/>
              <a:buNone/>
            </a:pPr>
            <a:r>
              <a:rPr lang="en-US" sz="2400" b="1" dirty="0">
                <a:solidFill>
                  <a:srgbClr val="1869A6"/>
                </a:solidFill>
                <a:latin typeface="Arial" panose="020B0604020202020204" pitchFamily="34" charset="0"/>
                <a:cs typeface="Calibri"/>
              </a:rPr>
              <a:t>Project Team + Roles</a:t>
            </a:r>
          </a:p>
        </p:txBody>
      </p:sp>
      <p:sp>
        <p:nvSpPr>
          <p:cNvPr id="7" name="TextBox 6">
            <a:extLst>
              <a:ext uri="{FF2B5EF4-FFF2-40B4-BE49-F238E27FC236}">
                <a16:creationId xmlns:a16="http://schemas.microsoft.com/office/drawing/2014/main" id="{8C3EBF46-E55F-E0E5-C74F-E0D6A4D8F20B}"/>
              </a:ext>
            </a:extLst>
          </p:cNvPr>
          <p:cNvSpPr txBox="1"/>
          <p:nvPr/>
        </p:nvSpPr>
        <p:spPr>
          <a:xfrm>
            <a:off x="1321837" y="4736859"/>
            <a:ext cx="8660363" cy="1231106"/>
          </a:xfrm>
          <a:prstGeom prst="rect">
            <a:avLst/>
          </a:prstGeom>
          <a:noFill/>
        </p:spPr>
        <p:txBody>
          <a:bodyPr wrap="square">
            <a:spAutoFit/>
          </a:bodyPr>
          <a:lstStyle/>
          <a:p>
            <a:pPr algn="ctr"/>
            <a:r>
              <a:rPr lang="en-US" sz="1600" b="1" u="sng" dirty="0">
                <a:solidFill>
                  <a:srgbClr val="1869A6"/>
                </a:solidFill>
                <a:latin typeface="Arial" panose="020B0604020202020204" pitchFamily="34" charset="0"/>
                <a:cs typeface="Calibri"/>
              </a:rPr>
              <a:t>Collaboration Methods:</a:t>
            </a:r>
            <a:br>
              <a:rPr lang="en-US" sz="1600" b="1" u="sng" dirty="0">
                <a:solidFill>
                  <a:srgbClr val="1869A6"/>
                </a:solidFill>
                <a:latin typeface="Arial" panose="020B0604020202020204" pitchFamily="34" charset="0"/>
                <a:cs typeface="Calibri"/>
              </a:rPr>
            </a:br>
            <a:endParaRPr lang="en-US" sz="1600" b="1" u="sng" dirty="0">
              <a:solidFill>
                <a:srgbClr val="1869A6"/>
              </a:solidFill>
              <a:latin typeface="Arial" panose="020B0604020202020204" pitchFamily="34" charset="0"/>
              <a:cs typeface="Calibri"/>
            </a:endParaRPr>
          </a:p>
          <a:p>
            <a:pPr algn="ctr"/>
            <a:r>
              <a:rPr lang="en-US" dirty="0">
                <a:solidFill>
                  <a:schemeClr val="tx1"/>
                </a:solidFill>
                <a:latin typeface="+mn-lt"/>
                <a:cs typeface="Calibri"/>
              </a:rPr>
              <a:t>The team operated through defined phases and clear deadlines as documented in the Project Plan. Collaboration was focused on sequential hand-offs: Data Cleaning (Python) was completed before Data Modeling (Power BI) could begin, ensuring high data quality was maintained throughout the process.</a:t>
            </a:r>
          </a:p>
        </p:txBody>
      </p:sp>
      <p:graphicFrame>
        <p:nvGraphicFramePr>
          <p:cNvPr id="10" name="Diagram 9">
            <a:extLst>
              <a:ext uri="{FF2B5EF4-FFF2-40B4-BE49-F238E27FC236}">
                <a16:creationId xmlns:a16="http://schemas.microsoft.com/office/drawing/2014/main" id="{F1CF5F3E-2D46-20F6-8EC2-A2D891890B34}"/>
              </a:ext>
            </a:extLst>
          </p:cNvPr>
          <p:cNvGraphicFramePr/>
          <p:nvPr>
            <p:extLst>
              <p:ext uri="{D42A27DB-BD31-4B8C-83A1-F6EECF244321}">
                <p14:modId xmlns:p14="http://schemas.microsoft.com/office/powerpoint/2010/main" val="1343370928"/>
              </p:ext>
            </p:extLst>
          </p:nvPr>
        </p:nvGraphicFramePr>
        <p:xfrm>
          <a:off x="261257" y="1240971"/>
          <a:ext cx="10720874" cy="32718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Google Shape;186;p8">
            <a:extLst>
              <a:ext uri="{FF2B5EF4-FFF2-40B4-BE49-F238E27FC236}">
                <a16:creationId xmlns:a16="http://schemas.microsoft.com/office/drawing/2014/main" id="{6D0DA7FD-CACA-9BE1-FDC7-21C76D2B78D8}"/>
              </a:ext>
            </a:extLst>
          </p:cNvPr>
          <p:cNvPicPr preferRelativeResize="0"/>
          <p:nvPr/>
        </p:nvPicPr>
        <p:blipFill>
          <a:blip r:embed="rId8"/>
          <a:srcRect/>
          <a:stretch/>
        </p:blipFill>
        <p:spPr>
          <a:xfrm>
            <a:off x="9190825" y="6421576"/>
            <a:ext cx="903191" cy="234673"/>
          </a:xfrm>
          <a:prstGeom prst="rect">
            <a:avLst/>
          </a:prstGeom>
          <a:noFill/>
          <a:ln>
            <a:noFill/>
          </a:ln>
        </p:spPr>
      </p:pic>
    </p:spTree>
    <p:extLst>
      <p:ext uri="{BB962C8B-B14F-4D97-AF65-F5344CB8AC3E}">
        <p14:creationId xmlns:p14="http://schemas.microsoft.com/office/powerpoint/2010/main" val="3112376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5" name="Google Shape;185;p8"/>
          <p:cNvSpPr/>
          <p:nvPr/>
        </p:nvSpPr>
        <p:spPr>
          <a:xfrm rot="16200000">
            <a:off x="11220660" y="2465851"/>
            <a:ext cx="1942680" cy="1469097"/>
          </a:xfrm>
          <a:prstGeom prst="blockArc">
            <a:avLst>
              <a:gd name="adj1" fmla="val 10800000"/>
              <a:gd name="adj2" fmla="val 0"/>
              <a:gd name="adj3" fmla="val 25000"/>
            </a:avLst>
          </a:prstGeom>
          <a:solidFill>
            <a:srgbClr val="94B9D6"/>
          </a:solidFill>
          <a:ln w="12700" cap="flat" cmpd="sng">
            <a:solidFill>
              <a:srgbClr val="94B9D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Calibri"/>
              <a:ea typeface="Calibri"/>
              <a:cs typeface="Calibri"/>
              <a:sym typeface="Calibri"/>
            </a:endParaRPr>
          </a:p>
        </p:txBody>
      </p:sp>
      <p:sp>
        <p:nvSpPr>
          <p:cNvPr id="181" name="Google Shape;18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600" b="0" i="0" u="none" strike="noStrike" kern="0" cap="none" spc="0" normalizeH="0" baseline="0" noProof="0" dirty="0">
                <a:ln>
                  <a:noFill/>
                </a:ln>
                <a:solidFill>
                  <a:srgbClr val="FFFFFF"/>
                </a:solidFill>
                <a:effectLst/>
                <a:uLnTx/>
                <a:uFillTx/>
                <a:latin typeface="Calibri"/>
                <a:cs typeface="Calibri"/>
                <a:sym typeface="Calibri"/>
              </a:rPr>
              <a:t>November 2025</a:t>
            </a:r>
          </a:p>
        </p:txBody>
      </p:sp>
      <p:sp>
        <p:nvSpPr>
          <p:cNvPr id="183" name="Google Shape;18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6" name="TextBox 5">
            <a:extLst>
              <a:ext uri="{FF2B5EF4-FFF2-40B4-BE49-F238E27FC236}">
                <a16:creationId xmlns:a16="http://schemas.microsoft.com/office/drawing/2014/main" id="{ED4CCF41-2892-85C0-6923-FC958964D657}"/>
              </a:ext>
            </a:extLst>
          </p:cNvPr>
          <p:cNvSpPr txBox="1"/>
          <p:nvPr/>
        </p:nvSpPr>
        <p:spPr>
          <a:xfrm>
            <a:off x="2662334" y="1213396"/>
            <a:ext cx="6102220" cy="1015663"/>
          </a:xfrm>
          <a:prstGeom prst="rect">
            <a:avLst/>
          </a:prstGeom>
          <a:noFill/>
        </p:spPr>
        <p:txBody>
          <a:bodyPr wrap="square">
            <a:spAutoFit/>
          </a:bodyPr>
          <a:lstStyle/>
          <a:p>
            <a:pPr algn="ctr"/>
            <a:r>
              <a:rPr kumimoji="0" lang="en-US" sz="6000" b="1" i="0" u="none" strike="noStrike" kern="0" cap="none" spc="0" normalizeH="0" baseline="0" noProof="0" dirty="0">
                <a:ln>
                  <a:noFill/>
                </a:ln>
                <a:solidFill>
                  <a:srgbClr val="1869A6"/>
                </a:solidFill>
                <a:effectLst/>
                <a:uLnTx/>
                <a:uFillTx/>
                <a:latin typeface="Gabriola" panose="04040605051002020D02" pitchFamily="82" charset="0"/>
                <a:cs typeface="Calibri"/>
                <a:sym typeface="Calibri"/>
              </a:rPr>
              <a:t>Thank you! </a:t>
            </a:r>
            <a:endParaRPr lang="en-US" dirty="0">
              <a:latin typeface="Gabriola" panose="04040605051002020D02" pitchFamily="82" charset="0"/>
            </a:endParaRPr>
          </a:p>
        </p:txBody>
      </p:sp>
      <p:sp>
        <p:nvSpPr>
          <p:cNvPr id="12" name="TextBox 11">
            <a:extLst>
              <a:ext uri="{FF2B5EF4-FFF2-40B4-BE49-F238E27FC236}">
                <a16:creationId xmlns:a16="http://schemas.microsoft.com/office/drawing/2014/main" id="{10FA169E-02AC-CF1B-6F3F-B93A0EBE9CB1}"/>
              </a:ext>
            </a:extLst>
          </p:cNvPr>
          <p:cNvSpPr txBox="1"/>
          <p:nvPr/>
        </p:nvSpPr>
        <p:spPr>
          <a:xfrm>
            <a:off x="3540200" y="2126475"/>
            <a:ext cx="6102220" cy="646331"/>
          </a:xfrm>
          <a:prstGeom prst="rect">
            <a:avLst/>
          </a:prstGeom>
          <a:noFill/>
        </p:spPr>
        <p:txBody>
          <a:bodyPr wrap="square">
            <a:spAutoFit/>
          </a:bodyPr>
          <a:lstStyle/>
          <a:p>
            <a:r>
              <a:rPr lang="en-US" sz="3600" b="1" dirty="0">
                <a:solidFill>
                  <a:srgbClr val="1869A6"/>
                </a:solidFill>
                <a:latin typeface="Gabriola" panose="04040605051002020D02" pitchFamily="82" charset="0"/>
                <a:cs typeface="Calibri"/>
              </a:rPr>
              <a:t>We are now open for questions.</a:t>
            </a:r>
          </a:p>
        </p:txBody>
      </p:sp>
      <p:sp>
        <p:nvSpPr>
          <p:cNvPr id="18" name="TextBox 17">
            <a:extLst>
              <a:ext uri="{FF2B5EF4-FFF2-40B4-BE49-F238E27FC236}">
                <a16:creationId xmlns:a16="http://schemas.microsoft.com/office/drawing/2014/main" id="{9E5F13BB-E06E-FDFF-4C94-BD90CA3BDFD0}"/>
              </a:ext>
            </a:extLst>
          </p:cNvPr>
          <p:cNvSpPr txBox="1"/>
          <p:nvPr/>
        </p:nvSpPr>
        <p:spPr>
          <a:xfrm>
            <a:off x="3044890" y="3142138"/>
            <a:ext cx="6102220" cy="817245"/>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dirty="0"/>
              <a:t> </a:t>
            </a:r>
            <a:r>
              <a:rPr lang="en-US" dirty="0">
                <a:hlinkClick r:id="rId3"/>
              </a:rPr>
              <a:t>arwamac2016@gmail.com</a:t>
            </a:r>
            <a:br>
              <a:rPr lang="en-US" dirty="0"/>
            </a:br>
            <a:endParaRPr lang="en-US" dirty="0"/>
          </a:p>
          <a:p>
            <a:pPr algn="ctr"/>
            <a:r>
              <a:rPr lang="en-US" dirty="0"/>
              <a:t>Human Resources Data Analysis Project</a:t>
            </a:r>
          </a:p>
        </p:txBody>
      </p:sp>
      <p:pic>
        <p:nvPicPr>
          <p:cNvPr id="20" name="Picture 19">
            <a:extLst>
              <a:ext uri="{FF2B5EF4-FFF2-40B4-BE49-F238E27FC236}">
                <a16:creationId xmlns:a16="http://schemas.microsoft.com/office/drawing/2014/main" id="{0E040114-FD36-F820-4664-6B5B825C0E64}"/>
              </a:ext>
            </a:extLst>
          </p:cNvPr>
          <p:cNvPicPr>
            <a:picLocks noChangeAspect="1"/>
          </p:cNvPicPr>
          <p:nvPr/>
        </p:nvPicPr>
        <p:blipFill>
          <a:blip r:embed="rId4"/>
          <a:stretch>
            <a:fillRect/>
          </a:stretch>
        </p:blipFill>
        <p:spPr>
          <a:xfrm>
            <a:off x="4590662" y="3176512"/>
            <a:ext cx="371669" cy="371669"/>
          </a:xfrm>
          <a:prstGeom prst="rect">
            <a:avLst/>
          </a:prstGeom>
        </p:spPr>
      </p:pic>
      <p:pic>
        <p:nvPicPr>
          <p:cNvPr id="2" name="Google Shape;186;p8">
            <a:extLst>
              <a:ext uri="{FF2B5EF4-FFF2-40B4-BE49-F238E27FC236}">
                <a16:creationId xmlns:a16="http://schemas.microsoft.com/office/drawing/2014/main" id="{0C4EE86F-295B-71B4-4127-1F7ACCB2F60A}"/>
              </a:ext>
            </a:extLst>
          </p:cNvPr>
          <p:cNvPicPr preferRelativeResize="0"/>
          <p:nvPr/>
        </p:nvPicPr>
        <p:blipFill>
          <a:blip r:embed="rId5"/>
          <a:srcRect/>
          <a:stretch/>
        </p:blipFill>
        <p:spPr>
          <a:xfrm>
            <a:off x="9190825" y="6421576"/>
            <a:ext cx="903191" cy="234673"/>
          </a:xfrm>
          <a:prstGeom prst="rect">
            <a:avLst/>
          </a:prstGeom>
          <a:noFill/>
          <a:ln>
            <a:noFill/>
          </a:ln>
        </p:spPr>
      </p:pic>
    </p:spTree>
    <p:extLst>
      <p:ext uri="{BB962C8B-B14F-4D97-AF65-F5344CB8AC3E}">
        <p14:creationId xmlns:p14="http://schemas.microsoft.com/office/powerpoint/2010/main" val="305409439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TotalTime>
  <Words>1816</Words>
  <Application>Microsoft Office PowerPoint</Application>
  <PresentationFormat>Widescreen</PresentationFormat>
  <Paragraphs>67</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Gabriola</vt:lpstr>
      <vt:lpstr>Calibri</vt:lpstr>
      <vt:lpstr>Arial</vt:lpstr>
      <vt:lpstr>Office Theme</vt:lpstr>
      <vt:lpstr>HR Analytics Project </vt:lpstr>
      <vt:lpstr>PowerPoint Presentation</vt:lpstr>
      <vt:lpstr>Visual Representation (Key Interfaces): The solution is presented through a dynamic Power BI Dashboard interface. Key user interfaces include: 1. General Overview Dashboard (showing Avg Salary, Attrition Rate, and Overtime breakdown), 2. Department &amp; Demographic Analysis (comparing salary and tenure across Technology, Sales, and HR), and 3. Performance Analysis (scatter plots of Salary vs. Manager Rating and tenure volatility). User Journey / Usability Focus: The dashboard is designed for maximum usability and data accessibility. The user journey is structured to enable efficient diagnostic analysis: 1. Global Filter: Use slicers (Age, Department, Ethnicity) on the left panel to instantly segment the data. 2. Diagnostic Drill-Down: Click on a high-risk department (e.g., Technology on the bar chart) to instantly filter all associated metrics (salary, attrition, tenure) across the entire interface. 3. Insight Generation: Managers can quickly confirm high-risk trends (e.g., the 28% attrition rate among overtime workers) and proceed to strategic action without delay. Focus on Usability: The interface prioritizes clear visual hierarchy, using color-coding (e.g., red for high attrition rates) and consistent chart types (bar charts for comparison, line charts for trends over time) to minimize cognitive load. This ensures that HR professionals, regardless of their technical background, can extract critical insights effectively.</vt:lpstr>
      <vt:lpstr>Primary User Personas: 1. HR Executives and Leadership: Focused on strategic decision-making, budget allocation, and high-level organizational planning.   2. Department Managers: Focused on managing team workload, conducting fair performance reviews, and addressing local burnout issues. Key Features Addressing Needs: 1. High-Risk Group Identification: Provides clear visualization of primary retention risk factors (e.g., Early Tenure (0-3 years), Overtime, Low Salary Groups).   2. Departmental Comparative Analysis: Enables cross-department comparisons of average salary, average tenure, and attrition percentages (e.g., comparing Technology's 56.12% attrition risk vs. Sales' 38.82%).   3. Performance and Compensation Alignment Check: Visual correlation of Salary vs. Performance Rating, showing that high compensation does not always guarantee high output or satisfaction. Feature-to-Solution Mapping: The features directly support the objective of improving retention. For HR Executives: The platform enables the creation of organization-wide initiatives (e.g., implementing an enhanced Rewards &amp; Recognition Framework) by proving, for instance, that non-high performers report higher satisfaction, indicating misaligned incentives. For Department Managers: They can use the Overtime Analysis feature to immediately re-evaluate workload distribution or offer compensatory flexibility to mitigate the identified 28% attrition rate among overtime workers.</vt:lpstr>
      <vt:lpstr>Database Architecture &amp; Entities: The dataset uses a simple, denormalized structure (relational principles applied within a single model) appropriate for the defined scope. The key entities focus on employee attributes: Employee Demographics (Age, Gender, Ethnicity), Job Data (Department, Years at Company, Job Role), Financial Data (Salary), and Behavioral Metrics (Overtime, Performance Rating, Attrition). Data Shape and Features: The initial data comprised multiple Excel files (SatisfiedLevel.xlsx and Employee (E.xlsx)) which were consolidated into a single analytical model representing approximately 1.47K employees. Target Variable: The dataset is unbalanced, with a lower volume of 'Yes' attrition cases (16.12%) compared to 'No' (83.88%). Key Features include categorical data (Education Level, Department) and numerical data (Salary, Years at Company, Distance From Home). Data Cleaning and Flow: Data Source: Raw, uncleaned dataset from Kaggle (abdelrahmangamal236/hr-datasets-not-cleaned). Cleaning Process: Performed using Python (Pandas) scripts: 1. Duplicate Removal: 19 duplicate records were identified and removed. 2. Missing Data Imputation: Missing values in key categorical columns ('Gender', 'Department', 'State') were imputed using the Mode (most frequent value) to minimize bias and preserve distribution.</vt:lpstr>
      <vt:lpstr>Main Programming Language: Python (Core language for data preparation and processing). Frameworks and Libraries: Pandas: Utilized extensively for the entire Data Cleaning and Wrangling phase, including file loading, merging, duplicate removal, and imputation techniques (mode imputation). Data Visualization Tool: Power BI: The primary tool for data modeling, creating relationships between tables, defining custom KPIs (using DAX), and developing the final interactive dashboards that visualize the findings. Supporting Technologies: Kaggle: Used for direct data ingestion from the Kaggle source repository. Google Colab Notebook: Provided the accessible development environment for executing the Python data cleaning and preprocessing steps.</vt:lpstr>
      <vt:lpstr>Current State Overview: The Power BI Dashboard is currently in a production-ready state, having been deployed for final review. It serves as the primary deliverable, featuring four interactive views (General, Department/Demographics, Performance, Education, details) and integrated slicers that allow HR users to dynamically cross-filter all 1.47K employee records based on Age, Department, Ethnicity, and Gender. Key Testing Phases: 1. Data Integrity Testing (Python/Pandas): Verification that the 19 duplicate entries were successfully removed and that Mode Imputation for missing categorical data (Gender, Department, State) was executed correctly, as detailed in the Data Wrangling Report.  2. Model Validation: Confirmed data relationships within the Power BI model are accurate for KPI calculation. This included testing the accuracy of the overall 16.12% Attrition Rate and the departmental attrition risk percentages (e.g., Technology at 56.12%).  3. User Acceptance Testing (UAT): Performed by project peers to ensure the dashboard’s usability, responsiveness, and intuitive navigation, confirming that the tool effectively supports the planned decision-making process. Quality Assurance: Quality Assurance confirmed the reliability of the core analytical findings, such as the clear demonstration that overtime workers experience a 28% attrition rate compared to 10% for non-overtime workers. No critical errors were identified, validating the data cleaning and transformation steps performed in Python.</vt:lpstr>
      <vt:lpstr>Reports and Documentation: 1. Data Wrangling Report: Technical documentation outlining the data collection, assessment (duplicates, missing values), cleaning, and imputation procedures executed in Python.  2. Business Insights Report: The strategic findings document, providing actionable recommendations (e.g., reducing overtime, strengthening early-tenure retention) based on the KPI analysis.  Timeline for Deliverables:      Other Final Products: 1. Interactive Power BI Dashboard: The primary functional deliverable, visualizing all performance, attrition, and demographic KPIs.  2. Source Code Repository: The Python script/notebook used for data cleaning and transformation (ETL process).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Analytics Project </dc:title>
  <dc:creator>SAMA</dc:creator>
  <cp:lastModifiedBy>Arwa Qasim</cp:lastModifiedBy>
  <cp:revision>5</cp:revision>
  <dcterms:created xsi:type="dcterms:W3CDTF">2024-03-14T10:03:54Z</dcterms:created>
  <dcterms:modified xsi:type="dcterms:W3CDTF">2025-11-30T17:06:10Z</dcterms:modified>
</cp:coreProperties>
</file>